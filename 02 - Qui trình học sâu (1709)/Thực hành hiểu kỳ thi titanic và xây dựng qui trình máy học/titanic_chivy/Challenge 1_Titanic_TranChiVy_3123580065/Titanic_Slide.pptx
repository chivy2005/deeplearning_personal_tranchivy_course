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1303-48EE-6657-B115-9F9A42CA6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046C2-DB84-C064-C52B-2557F6999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5980F-1B49-3A2C-412E-B2CFAA5B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788D4-DC9B-A742-0AD9-E962DE5D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F5DB2-9A84-A30F-4A32-85F593D3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7374-AE6A-9554-2078-34F899C6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B01F-02E2-FC5B-D778-8BA56A5A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14846-4558-E7E3-5D82-A2EF3192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42DFC-E57A-1928-6A3E-391605E0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5C729-20C5-F0ED-B6FA-2406AC45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8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CADF-4DA3-56DD-7652-E541FD76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06194-0559-B1B8-E6C3-8CCBC5EFD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6287-ED10-3BA2-09F3-F26A4E08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1D456-212A-B6BC-E17F-5614E9C8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CB9DF-73B4-61C2-B887-6C948A24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5A40-9E95-4412-C653-497E459A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EE25-0CB6-C688-00C5-4426B67D6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24CA3-9773-2648-4D80-4FCA6917B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CED47-C3AF-C871-39DB-D05CD100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89FE9-4248-19C6-7776-863B470F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3AA57-BA7A-CE1E-E551-A42F3F5C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2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D319-5557-18A9-E1EB-0246C7D1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1CAED-8B8B-3BC7-8984-61194111C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1146C-874B-BE57-D6FE-0A2BCDE3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E84DF-9795-78C7-DF01-417DB3AAB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80C60-C138-797D-BED0-A10FF045D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E3A3C-A867-CD27-8B79-0550CC18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A8CFE-B33D-9491-5A59-EC5E1ECF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6EDAC-45DB-5079-E1D8-DFC5CB11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6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F81F-1673-CE6F-2A5E-B26DCA73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AAC6C-9713-488C-52A0-92C79C56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FC410-79D6-CAEB-7604-1FBB7375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79D3E-4B09-472A-6CC7-07C92D56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6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F7128-DA6A-98AC-31D1-7135A5AC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12E81-3E4E-E845-31EE-D612D1A0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D5531-4305-A21B-7F98-57AA2369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9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6613-DBF3-A254-DF65-47313127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7507-C83F-30B1-CBE4-54E012F1F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E9B47-5A98-CD42-E14A-3FFB4CE64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A4CC7-7640-93F6-CC25-BA9665E6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1815A-8280-B4B4-D06B-B4ED54F7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56D85-C18E-AFE4-6489-8EAD436E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AFB8-E940-3C84-AE41-3FEAE199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AAEE8-D0F6-9AE4-230E-B6FA53AF0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61E05-6AF3-212B-4566-BA8BB696D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D7C96-5F78-2FB0-0BD9-5215499A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CE8FD-E04D-046B-F5A6-2EAB1778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C56CD-D5FF-A102-811D-474E60FD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7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925C-2D25-2D41-14CD-B7DBB795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9BD2D-6DE9-AA53-5F57-B443B4078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C53BB-3C59-8CAE-391F-D48E4FE0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04B3D-49DA-6BCB-CF56-40F5B957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A3FE-C1E2-6A43-413E-9C80BC69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33C6A-4F57-6814-5219-DCECD938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EC902-A96E-3D30-35F1-A30491ACF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2756-5C8C-C055-F46F-A09F9DC2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2B44D-A737-0BB8-FE77-3F547F52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7C99-1309-7B5A-C6D9-F1D02487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0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6B757-E514-6C8C-6237-392D3DB2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BF361-6FCB-A09F-5944-D8D474264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92C07-F49D-E953-6EB7-F631388A4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BBC4-418E-4386-8542-FD11589CC0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EE736-D4C8-8906-8923-D9A41689D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6AB54-37AC-DEDF-AEF4-27A594E72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FE106-2E75-4065-BB96-19D644DA5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8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0ED09B-FBC1-5575-7193-4EC43AE7F1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F61C3-999E-F4D8-1014-47EF89EFEB5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DB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EEC8C-C7F5-57B6-25F2-5A2DF6AC9EC8}"/>
              </a:ext>
            </a:extLst>
          </p:cNvPr>
          <p:cNvSpPr txBox="1"/>
          <p:nvPr/>
        </p:nvSpPr>
        <p:spPr>
          <a:xfrm>
            <a:off x="914400" y="9398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DB2BE"/>
                </a:solidFill>
                <a:latin typeface="Aptos" panose="020B0004020202020204" pitchFamily="34" charset="0"/>
              </a:rPr>
              <a:t>MACHINE LEARNING FROM DISASTER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8F56C-08A8-2946-4B1C-703A17EAF348}"/>
              </a:ext>
            </a:extLst>
          </p:cNvPr>
          <p:cNvSpPr txBox="1"/>
          <p:nvPr/>
        </p:nvSpPr>
        <p:spPr>
          <a:xfrm>
            <a:off x="889000" y="1524000"/>
            <a:ext cx="8255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800" b="1">
                <a:solidFill>
                  <a:srgbClr val="FFFFFF"/>
                </a:solidFill>
                <a:latin typeface="Aptos" panose="020B0004020202020204" pitchFamily="34" charset="0"/>
              </a:rPr>
              <a:t>TITANIC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BA25A-4688-1F04-5BB4-085A135EEE15}"/>
              </a:ext>
            </a:extLst>
          </p:cNvPr>
          <p:cNvSpPr txBox="1"/>
          <p:nvPr/>
        </p:nvSpPr>
        <p:spPr>
          <a:xfrm>
            <a:off x="939800" y="2844800"/>
            <a:ext cx="889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Dự đoán khả năng sống sót bằng PyTorch MLP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8DCD76-1E1B-E426-0782-84784467F0ED}"/>
              </a:ext>
            </a:extLst>
          </p:cNvPr>
          <p:cNvSpPr/>
          <p:nvPr/>
        </p:nvSpPr>
        <p:spPr>
          <a:xfrm>
            <a:off x="939800" y="3733800"/>
            <a:ext cx="1092200" cy="635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ADDD3-089A-CE37-A6EF-EC7825B0F446}"/>
              </a:ext>
            </a:extLst>
          </p:cNvPr>
          <p:cNvSpPr txBox="1"/>
          <p:nvPr/>
        </p:nvSpPr>
        <p:spPr>
          <a:xfrm>
            <a:off x="939800" y="4038600"/>
            <a:ext cx="825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B4C5D9"/>
                </a:solidFill>
                <a:latin typeface="Aptos" panose="020B0004020202020204" pitchFamily="34" charset="0"/>
              </a:rPr>
              <a:t>EDA  ·  FEATURE ENGINEERING  ·  MLP  ·  TUNING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B57A0-123E-E312-397B-00CEAB6828A7}"/>
              </a:ext>
            </a:extLst>
          </p:cNvPr>
          <p:cNvSpPr txBox="1"/>
          <p:nvPr/>
        </p:nvSpPr>
        <p:spPr>
          <a:xfrm>
            <a:off x="939800" y="52705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TRẦN CHÍ VỸ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AACAB-1EA2-3237-6DAB-C77C940894DA}"/>
              </a:ext>
            </a:extLst>
          </p:cNvPr>
          <p:cNvSpPr txBox="1"/>
          <p:nvPr/>
        </p:nvSpPr>
        <p:spPr>
          <a:xfrm>
            <a:off x="939800" y="56515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B4C5D9"/>
                </a:solidFill>
                <a:latin typeface="Aptos" panose="020B0004020202020204" pitchFamily="34" charset="0"/>
              </a:rPr>
              <a:t>MSSV 3123580065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46FFE9-2227-772F-98F8-EB882F898F21}"/>
              </a:ext>
            </a:extLst>
          </p:cNvPr>
          <p:cNvSpPr/>
          <p:nvPr/>
        </p:nvSpPr>
        <p:spPr>
          <a:xfrm>
            <a:off x="9461500" y="1397000"/>
            <a:ext cx="1524000" cy="1524000"/>
          </a:xfrm>
          <a:prstGeom prst="roundRect">
            <a:avLst/>
          </a:prstGeom>
          <a:solidFill>
            <a:srgbClr val="1DB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C60D8-49E7-F0B7-7633-C63B326FB012}"/>
              </a:ext>
            </a:extLst>
          </p:cNvPr>
          <p:cNvSpPr txBox="1"/>
          <p:nvPr/>
        </p:nvSpPr>
        <p:spPr>
          <a:xfrm>
            <a:off x="9550400" y="1778000"/>
            <a:ext cx="1346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Aptos" panose="020B0004020202020204" pitchFamily="34" charset="0"/>
              </a:rPr>
              <a:t>38.4%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C61C8-AE04-9D5B-32F6-569996DE29FE}"/>
              </a:ext>
            </a:extLst>
          </p:cNvPr>
          <p:cNvSpPr txBox="1"/>
          <p:nvPr/>
        </p:nvSpPr>
        <p:spPr>
          <a:xfrm>
            <a:off x="9550400" y="2362200"/>
            <a:ext cx="1346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sống sót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306139-2C54-390C-26A9-93535247201A}"/>
              </a:ext>
            </a:extLst>
          </p:cNvPr>
          <p:cNvSpPr/>
          <p:nvPr/>
        </p:nvSpPr>
        <p:spPr>
          <a:xfrm>
            <a:off x="8763000" y="3175000"/>
            <a:ext cx="2222500" cy="1193800"/>
          </a:xfrm>
          <a:prstGeom prst="roundRect">
            <a:avLst/>
          </a:prstGeom>
          <a:solidFill>
            <a:srgbClr val="206B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13FEE-BCD0-ED10-C8CE-CCDC5B4B545F}"/>
              </a:ext>
            </a:extLst>
          </p:cNvPr>
          <p:cNvSpPr txBox="1"/>
          <p:nvPr/>
        </p:nvSpPr>
        <p:spPr>
          <a:xfrm>
            <a:off x="8953500" y="3403600"/>
            <a:ext cx="82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891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36FC5-14C6-4F95-4174-887F017326A3}"/>
              </a:ext>
            </a:extLst>
          </p:cNvPr>
          <p:cNvSpPr txBox="1"/>
          <p:nvPr/>
        </p:nvSpPr>
        <p:spPr>
          <a:xfrm>
            <a:off x="8953500" y="38862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train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5B2AA-92B4-D07A-3267-E876AF44BD3B}"/>
              </a:ext>
            </a:extLst>
          </p:cNvPr>
          <p:cNvSpPr txBox="1"/>
          <p:nvPr/>
        </p:nvSpPr>
        <p:spPr>
          <a:xfrm>
            <a:off x="10033000" y="3403600"/>
            <a:ext cx="82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418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444728-4632-FA0D-2C8C-6924A99B438B}"/>
              </a:ext>
            </a:extLst>
          </p:cNvPr>
          <p:cNvSpPr txBox="1"/>
          <p:nvPr/>
        </p:nvSpPr>
        <p:spPr>
          <a:xfrm>
            <a:off x="10033000" y="38862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01279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12423-7E70-042F-AD1B-C68879BAD552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01 · BÀI TOÁN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B7954-C90A-BE5D-CDF5-996F90D6EB31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Dữ liệu nhỏ, quyết định có hậu quả rõ ràng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B12AF-E4DE-D723-1BD4-9F0CB3CCB156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F4BF9-4674-53DA-C961-9B56AE840B06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916BAD-A266-9389-D57E-B778E5299581}"/>
              </a:ext>
            </a:extLst>
          </p:cNvPr>
          <p:cNvSpPr/>
          <p:nvPr/>
        </p:nvSpPr>
        <p:spPr>
          <a:xfrm>
            <a:off x="685800" y="1968500"/>
            <a:ext cx="3365500" cy="35052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0D5A0-1D46-BA07-90B1-F718054DF007}"/>
              </a:ext>
            </a:extLst>
          </p:cNvPr>
          <p:cNvSpPr txBox="1"/>
          <p:nvPr/>
        </p:nvSpPr>
        <p:spPr>
          <a:xfrm>
            <a:off x="965200" y="22606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06BC4"/>
                </a:solidFill>
                <a:latin typeface="Aptos" panose="020B0004020202020204" pitchFamily="34" charset="0"/>
              </a:rPr>
              <a:t>MỤC TIÊU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BC60B-B652-390D-310A-0AD8ADC0E69F}"/>
              </a:ext>
            </a:extLst>
          </p:cNvPr>
          <p:cNvSpPr txBox="1"/>
          <p:nvPr/>
        </p:nvSpPr>
        <p:spPr>
          <a:xfrm>
            <a:off x="965200" y="2705100"/>
            <a:ext cx="2794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b="1">
                <a:solidFill>
                  <a:srgbClr val="112240"/>
                </a:solidFill>
                <a:latin typeface="Aptos" panose="020B0004020202020204" pitchFamily="34" charset="0"/>
              </a:rPr>
              <a:t>Dự đoán nhãn nhị phân Survived cho 418 hành khách chưa biết kết quả.</a:t>
            </a:r>
            <a:endParaRPr lang="en-US" sz="2000" b="1">
              <a:solidFill>
                <a:srgbClr val="11224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8D5E8-D144-43B2-C6AD-7C9103595216}"/>
              </a:ext>
            </a:extLst>
          </p:cNvPr>
          <p:cNvSpPr txBox="1"/>
          <p:nvPr/>
        </p:nvSpPr>
        <p:spPr>
          <a:xfrm>
            <a:off x="965200" y="4318000"/>
            <a:ext cx="133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Output Kaggle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BB027-CBC8-E804-6EAF-9F9A8CD7C85A}"/>
              </a:ext>
            </a:extLst>
          </p:cNvPr>
          <p:cNvSpPr txBox="1"/>
          <p:nvPr/>
        </p:nvSpPr>
        <p:spPr>
          <a:xfrm>
            <a:off x="965200" y="46990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25303F"/>
                </a:solidFill>
                <a:latin typeface="Aptos" panose="020B0004020202020204" pitchFamily="34" charset="0"/>
              </a:rPr>
              <a:t>PassengerId  ·  Survived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B466D-D485-6FAB-55C4-DC7EB7610999}"/>
              </a:ext>
            </a:extLst>
          </p:cNvPr>
          <p:cNvSpPr txBox="1"/>
          <p:nvPr/>
        </p:nvSpPr>
        <p:spPr>
          <a:xfrm>
            <a:off x="4826000" y="2057400"/>
            <a:ext cx="203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12240"/>
                </a:solidFill>
                <a:latin typeface="Aptos" panose="020B0004020202020204" pitchFamily="34" charset="0"/>
              </a:rPr>
              <a:t>12 cột gốc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33EA3-AF75-EB52-CE20-CCC3575F2F40}"/>
              </a:ext>
            </a:extLst>
          </p:cNvPr>
          <p:cNvSpPr txBox="1"/>
          <p:nvPr/>
        </p:nvSpPr>
        <p:spPr>
          <a:xfrm>
            <a:off x="4826000" y="2667000"/>
            <a:ext cx="2921000" cy="18210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Nhân khẩu: Sex, Age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Kinh tế: Pclass, Fare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Gia đình: SibSp, Parch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Hành trình: Embarked, Ticket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Vị trí: Cabin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DFB2F-B863-DA11-62A7-4CC32CA8DA92}"/>
              </a:ext>
            </a:extLst>
          </p:cNvPr>
          <p:cNvSpPr txBox="1"/>
          <p:nvPr/>
        </p:nvSpPr>
        <p:spPr>
          <a:xfrm>
            <a:off x="8509000" y="2057400"/>
            <a:ext cx="228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12240"/>
                </a:solidFill>
                <a:latin typeface="Aptos" panose="020B0004020202020204" pitchFamily="34" charset="0"/>
              </a:rPr>
              <a:t>Thách thức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1C6983-ADB4-0D63-8BB4-DFCD288E287B}"/>
              </a:ext>
            </a:extLst>
          </p:cNvPr>
          <p:cNvSpPr txBox="1"/>
          <p:nvPr/>
        </p:nvSpPr>
        <p:spPr>
          <a:xfrm>
            <a:off x="8509000" y="2667000"/>
            <a:ext cx="2921000" cy="18210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vi-VN" sz="1700">
                <a:solidFill>
                  <a:srgbClr val="25303F"/>
                </a:solidFill>
                <a:latin typeface="Aptos" panose="020B0004020202020204" pitchFamily="34" charset="0"/>
              </a:rPr>
              <a:t>•  Age thiếu 19.9%</a:t>
            </a:r>
          </a:p>
          <a:p>
            <a:pPr>
              <a:spcAft>
                <a:spcPts val="1000"/>
              </a:spcAft>
            </a:pPr>
            <a:r>
              <a:rPr lang="vi-VN" sz="1700">
                <a:solidFill>
                  <a:srgbClr val="25303F"/>
                </a:solidFill>
                <a:latin typeface="Aptos" panose="020B0004020202020204" pitchFamily="34" charset="0"/>
              </a:rPr>
              <a:t>•  Cabin thiếu 77.1%</a:t>
            </a:r>
          </a:p>
          <a:p>
            <a:pPr>
              <a:spcAft>
                <a:spcPts val="1000"/>
              </a:spcAft>
            </a:pPr>
            <a:r>
              <a:rPr lang="vi-VN" sz="1700">
                <a:solidFill>
                  <a:srgbClr val="25303F"/>
                </a:solidFill>
                <a:latin typeface="Aptos" panose="020B0004020202020204" pitchFamily="34" charset="0"/>
              </a:rPr>
              <a:t>•  Lớp mất cân bằng</a:t>
            </a:r>
          </a:p>
          <a:p>
            <a:pPr>
              <a:spcAft>
                <a:spcPts val="1000"/>
              </a:spcAft>
            </a:pPr>
            <a:r>
              <a:rPr lang="vi-VN" sz="1700">
                <a:solidFill>
                  <a:srgbClr val="25303F"/>
                </a:solidFill>
                <a:latin typeface="Aptos" panose="020B0004020202020204" pitchFamily="34" charset="0"/>
              </a:rPr>
              <a:t>•  Dữ liệu vừa số vừa hạng mục</a:t>
            </a:r>
          </a:p>
          <a:p>
            <a:pPr>
              <a:spcAft>
                <a:spcPts val="1000"/>
              </a:spcAft>
            </a:pPr>
            <a:r>
              <a:rPr lang="vi-VN" sz="1700">
                <a:solidFill>
                  <a:srgbClr val="25303F"/>
                </a:solidFill>
                <a:latin typeface="Aptos" panose="020B0004020202020204" pitchFamily="34" charset="0"/>
              </a:rPr>
              <a:t>•  Nguy cơ data leakage</a:t>
            </a:r>
            <a:endParaRPr lang="en-US" sz="1700">
              <a:solidFill>
                <a:srgbClr val="25303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C8082-F712-C4F3-2CA5-4413B3E8A7EF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1E2A0-332D-2124-E5CC-791A91677E93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327078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2F6C9-B68F-FC72-E864-53CA6D613260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02 · QUY TRÌNH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BB7D1-1975-43B1-AC71-5CC430DAA08C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Một pipeline có thể tái lập từ dữ liệu đến submission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81971-171D-6A2F-D1E0-1CA475DAB607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BEEC0-2661-CF71-13DB-E06F0F8F6B34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1DFA43-3414-AF39-E2D8-E9F00C53A6E3}"/>
              </a:ext>
            </a:extLst>
          </p:cNvPr>
          <p:cNvSpPr/>
          <p:nvPr/>
        </p:nvSpPr>
        <p:spPr>
          <a:xfrm>
            <a:off x="609600" y="2667000"/>
            <a:ext cx="1143000" cy="9906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0DCFD-6E9D-CD8D-3E09-E3F3F7313118}"/>
              </a:ext>
            </a:extLst>
          </p:cNvPr>
          <p:cNvSpPr txBox="1"/>
          <p:nvPr/>
        </p:nvSpPr>
        <p:spPr>
          <a:xfrm>
            <a:off x="6604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LOAD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56BCD-CE96-D24A-CA8F-C2558A65BB1C}"/>
              </a:ext>
            </a:extLst>
          </p:cNvPr>
          <p:cNvSpPr txBox="1"/>
          <p:nvPr/>
        </p:nvSpPr>
        <p:spPr>
          <a:xfrm>
            <a:off x="18034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BBC78F-6488-55D2-3FAC-38E8EA4966AD}"/>
              </a:ext>
            </a:extLst>
          </p:cNvPr>
          <p:cNvSpPr/>
          <p:nvPr/>
        </p:nvSpPr>
        <p:spPr>
          <a:xfrm>
            <a:off x="2044700" y="2667000"/>
            <a:ext cx="1143000" cy="990600"/>
          </a:xfrm>
          <a:prstGeom prst="roundRect">
            <a:avLst/>
          </a:prstGeom>
          <a:solidFill>
            <a:srgbClr val="206B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96D75-CC31-1D7A-9624-B767808C2D87}"/>
              </a:ext>
            </a:extLst>
          </p:cNvPr>
          <p:cNvSpPr txBox="1"/>
          <p:nvPr/>
        </p:nvSpPr>
        <p:spPr>
          <a:xfrm>
            <a:off x="20955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EDA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E0097-D5CF-9D07-828E-2D0C81710D9C}"/>
              </a:ext>
            </a:extLst>
          </p:cNvPr>
          <p:cNvSpPr txBox="1"/>
          <p:nvPr/>
        </p:nvSpPr>
        <p:spPr>
          <a:xfrm>
            <a:off x="32385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656B93-9627-03B5-AAE1-D3DD13B99618}"/>
              </a:ext>
            </a:extLst>
          </p:cNvPr>
          <p:cNvSpPr/>
          <p:nvPr/>
        </p:nvSpPr>
        <p:spPr>
          <a:xfrm>
            <a:off x="3479800" y="2667000"/>
            <a:ext cx="1143000" cy="990600"/>
          </a:xfrm>
          <a:prstGeom prst="roundRect">
            <a:avLst/>
          </a:prstGeom>
          <a:solidFill>
            <a:srgbClr val="1DB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7B60A-0BCD-B126-984D-D248BF0F9A81}"/>
              </a:ext>
            </a:extLst>
          </p:cNvPr>
          <p:cNvSpPr txBox="1"/>
          <p:nvPr/>
        </p:nvSpPr>
        <p:spPr>
          <a:xfrm>
            <a:off x="35306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D2F2-726E-B4A4-3594-F526DF5033D7}"/>
              </a:ext>
            </a:extLst>
          </p:cNvPr>
          <p:cNvSpPr txBox="1"/>
          <p:nvPr/>
        </p:nvSpPr>
        <p:spPr>
          <a:xfrm>
            <a:off x="46736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AC81AA-C930-3F08-7DC9-D635D671713D}"/>
              </a:ext>
            </a:extLst>
          </p:cNvPr>
          <p:cNvSpPr/>
          <p:nvPr/>
        </p:nvSpPr>
        <p:spPr>
          <a:xfrm>
            <a:off x="4914900" y="2667000"/>
            <a:ext cx="1143000" cy="990600"/>
          </a:xfrm>
          <a:prstGeom prst="roundRect">
            <a:avLst/>
          </a:prstGeom>
          <a:solidFill>
            <a:srgbClr val="3997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63CD3-F8CD-3F13-8608-C1966A7B73F7}"/>
              </a:ext>
            </a:extLst>
          </p:cNvPr>
          <p:cNvSpPr txBox="1"/>
          <p:nvPr/>
        </p:nvSpPr>
        <p:spPr>
          <a:xfrm>
            <a:off x="49657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PREPROCESS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72D667-86B7-75A4-8583-EB4D47767AA7}"/>
              </a:ext>
            </a:extLst>
          </p:cNvPr>
          <p:cNvSpPr txBox="1"/>
          <p:nvPr/>
        </p:nvSpPr>
        <p:spPr>
          <a:xfrm>
            <a:off x="61087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711729-6293-387A-AECB-EE25668334C3}"/>
              </a:ext>
            </a:extLst>
          </p:cNvPr>
          <p:cNvSpPr/>
          <p:nvPr/>
        </p:nvSpPr>
        <p:spPr>
          <a:xfrm>
            <a:off x="6350000" y="2667000"/>
            <a:ext cx="1143000" cy="990600"/>
          </a:xfrm>
          <a:prstGeom prst="round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F06C0C-77CA-DFF2-F95A-34D60D2DBF43}"/>
              </a:ext>
            </a:extLst>
          </p:cNvPr>
          <p:cNvSpPr txBox="1"/>
          <p:nvPr/>
        </p:nvSpPr>
        <p:spPr>
          <a:xfrm>
            <a:off x="64008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MLP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6ED93C-DD41-5357-D7DE-3E4648459DE1}"/>
              </a:ext>
            </a:extLst>
          </p:cNvPr>
          <p:cNvSpPr txBox="1"/>
          <p:nvPr/>
        </p:nvSpPr>
        <p:spPr>
          <a:xfrm>
            <a:off x="75438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E13E68-E004-F542-FB72-4846B3AEB381}"/>
              </a:ext>
            </a:extLst>
          </p:cNvPr>
          <p:cNvSpPr/>
          <p:nvPr/>
        </p:nvSpPr>
        <p:spPr>
          <a:xfrm>
            <a:off x="7785100" y="2667000"/>
            <a:ext cx="1143000" cy="990600"/>
          </a:xfrm>
          <a:prstGeom prst="roundRect">
            <a:avLst/>
          </a:prstGeom>
          <a:solidFill>
            <a:srgbClr val="DA4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00A93F-7E1A-07D7-41C6-66BF7BA9EF54}"/>
              </a:ext>
            </a:extLst>
          </p:cNvPr>
          <p:cNvSpPr txBox="1"/>
          <p:nvPr/>
        </p:nvSpPr>
        <p:spPr>
          <a:xfrm>
            <a:off x="78359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TUNE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4045F1-7DDC-70D9-EE14-E780CA485301}"/>
              </a:ext>
            </a:extLst>
          </p:cNvPr>
          <p:cNvSpPr txBox="1"/>
          <p:nvPr/>
        </p:nvSpPr>
        <p:spPr>
          <a:xfrm>
            <a:off x="89789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0A75C8-A1FB-5D0D-5329-2924D9950265}"/>
              </a:ext>
            </a:extLst>
          </p:cNvPr>
          <p:cNvSpPr/>
          <p:nvPr/>
        </p:nvSpPr>
        <p:spPr>
          <a:xfrm>
            <a:off x="9220200" y="2667000"/>
            <a:ext cx="1143000" cy="990600"/>
          </a:xfrm>
          <a:prstGeom prst="roundRect">
            <a:avLst/>
          </a:prstGeom>
          <a:solidFill>
            <a:srgbClr val="206B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D5C0FA-6E57-6B13-A0D2-0457C97B7AE8}"/>
              </a:ext>
            </a:extLst>
          </p:cNvPr>
          <p:cNvSpPr txBox="1"/>
          <p:nvPr/>
        </p:nvSpPr>
        <p:spPr>
          <a:xfrm>
            <a:off x="92710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EVALUATE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27621A-F004-27F0-F80F-6424D536E495}"/>
              </a:ext>
            </a:extLst>
          </p:cNvPr>
          <p:cNvSpPr txBox="1"/>
          <p:nvPr/>
        </p:nvSpPr>
        <p:spPr>
          <a:xfrm>
            <a:off x="10414000" y="2946400"/>
            <a:ext cx="228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500" b="1">
                <a:solidFill>
                  <a:srgbClr val="607084"/>
                </a:solidFill>
                <a:latin typeface="Aptos" panose="020B0004020202020204" pitchFamily="34" charset="0"/>
              </a:rPr>
              <a:t>›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96E7BD5-45BE-2B5F-069E-12D988D253BD}"/>
              </a:ext>
            </a:extLst>
          </p:cNvPr>
          <p:cNvSpPr/>
          <p:nvPr/>
        </p:nvSpPr>
        <p:spPr>
          <a:xfrm>
            <a:off x="10655300" y="2667000"/>
            <a:ext cx="1143000" cy="9906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68B01-4C98-7E86-4AAC-83C5378F0CC9}"/>
              </a:ext>
            </a:extLst>
          </p:cNvPr>
          <p:cNvSpPr txBox="1"/>
          <p:nvPr/>
        </p:nvSpPr>
        <p:spPr>
          <a:xfrm>
            <a:off x="10706100" y="30226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SUBMIT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3CABB8-5088-061C-EBFF-FD03003D791A}"/>
              </a:ext>
            </a:extLst>
          </p:cNvPr>
          <p:cNvSpPr/>
          <p:nvPr/>
        </p:nvSpPr>
        <p:spPr>
          <a:xfrm>
            <a:off x="1778000" y="4318000"/>
            <a:ext cx="8636000" cy="10160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63D6F-129C-0B53-2EC6-0BD9C4DF6105}"/>
              </a:ext>
            </a:extLst>
          </p:cNvPr>
          <p:cNvSpPr txBox="1"/>
          <p:nvPr/>
        </p:nvSpPr>
        <p:spPr>
          <a:xfrm>
            <a:off x="2095500" y="4546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06BC4"/>
                </a:solidFill>
                <a:latin typeface="Aptos" panose="020B0004020202020204" pitchFamily="34" charset="0"/>
              </a:rPr>
              <a:t>Nguyên tắc kiểm soát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B6FC30-D900-5A4B-244F-CD49307B9071}"/>
              </a:ext>
            </a:extLst>
          </p:cNvPr>
          <p:cNvSpPr txBox="1"/>
          <p:nvPr/>
        </p:nvSpPr>
        <p:spPr>
          <a:xfrm>
            <a:off x="2095500" y="4889500"/>
            <a:ext cx="787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 b="1">
                <a:solidFill>
                  <a:srgbClr val="25303F"/>
                </a:solidFill>
                <a:latin typeface="Aptos" panose="020B0004020202020204" pitchFamily="34" charset="0"/>
              </a:rPr>
              <a:t>Split trước → fit preprocessor chỉ trên train → chọn mô hình bằng validation → fit cuối trên toàn bộ train</a:t>
            </a:r>
            <a:endParaRPr lang="en-US" sz="1500" b="1">
              <a:solidFill>
                <a:srgbClr val="25303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3BD3E4-1864-401A-0655-C6814A86808A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EF0054-551B-DB75-0C9F-FAD5F8908D75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334107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2155B-0CBA-601E-71CA-788B51ADB00A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03 · 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985A3-1ED8-9EFB-A92E-A01A50D4E51A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Giới tính và hạng vé là hai tín hiệu nổi bật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65217-83EF-48B4-49DB-8CCBA0177FE9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6B3D1-C275-ACA8-675A-585E3037F663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50D8F-B9D6-97C9-6DC1-0F1D7B4D07FC}"/>
              </a:ext>
            </a:extLst>
          </p:cNvPr>
          <p:cNvSpPr txBox="1"/>
          <p:nvPr/>
        </p:nvSpPr>
        <p:spPr>
          <a:xfrm>
            <a:off x="685800" y="193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12240"/>
                </a:solidFill>
                <a:latin typeface="Aptos" panose="020B0004020202020204" pitchFamily="34" charset="0"/>
              </a:rPr>
              <a:t>Tỷ lệ sống sót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F5D9C-7E4A-1D0D-DA46-C04D07AF3892}"/>
              </a:ext>
            </a:extLst>
          </p:cNvPr>
          <p:cNvSpPr txBox="1"/>
          <p:nvPr/>
        </p:nvSpPr>
        <p:spPr>
          <a:xfrm>
            <a:off x="685800" y="25146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5303F"/>
                </a:solidFill>
                <a:latin typeface="Aptos" panose="020B0004020202020204" pitchFamily="34" charset="0"/>
              </a:rPr>
              <a:t>Nữ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CF29DE-CC01-219B-2B06-6E1C1B4AF26A}"/>
              </a:ext>
            </a:extLst>
          </p:cNvPr>
          <p:cNvSpPr/>
          <p:nvPr/>
        </p:nvSpPr>
        <p:spPr>
          <a:xfrm>
            <a:off x="1905000" y="2527300"/>
            <a:ext cx="4572000" cy="203200"/>
          </a:xfrm>
          <a:prstGeom prst="roundRect">
            <a:avLst/>
          </a:prstGeom>
          <a:solidFill>
            <a:srgbClr val="E1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A2601C-A17F-3A66-316E-E2B244249B39}"/>
              </a:ext>
            </a:extLst>
          </p:cNvPr>
          <p:cNvSpPr/>
          <p:nvPr/>
        </p:nvSpPr>
        <p:spPr>
          <a:xfrm>
            <a:off x="1905000" y="2527300"/>
            <a:ext cx="3392424" cy="203200"/>
          </a:xfrm>
          <a:prstGeom prst="roundRect">
            <a:avLst/>
          </a:prstGeom>
          <a:solidFill>
            <a:srgbClr val="1DB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603E44-96B8-AA0B-4EEA-B8AAA23B00CB}"/>
              </a:ext>
            </a:extLst>
          </p:cNvPr>
          <p:cNvSpPr txBox="1"/>
          <p:nvPr/>
        </p:nvSpPr>
        <p:spPr>
          <a:xfrm>
            <a:off x="6604000" y="2489200"/>
            <a:ext cx="76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07084"/>
                </a:solidFill>
                <a:latin typeface="Aptos" panose="020B0004020202020204" pitchFamily="34" charset="0"/>
              </a:rPr>
              <a:t>74.2%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6B92C9-B6E2-2327-1422-CF5AE1327489}"/>
              </a:ext>
            </a:extLst>
          </p:cNvPr>
          <p:cNvSpPr txBox="1"/>
          <p:nvPr/>
        </p:nvSpPr>
        <p:spPr>
          <a:xfrm>
            <a:off x="685800" y="31496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5303F"/>
                </a:solidFill>
                <a:latin typeface="Aptos" panose="020B0004020202020204" pitchFamily="34" charset="0"/>
              </a:rPr>
              <a:t>Nam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E0068E-B075-BB8D-4FF5-C1E71B03EF4A}"/>
              </a:ext>
            </a:extLst>
          </p:cNvPr>
          <p:cNvSpPr/>
          <p:nvPr/>
        </p:nvSpPr>
        <p:spPr>
          <a:xfrm>
            <a:off x="1905000" y="3162300"/>
            <a:ext cx="4572000" cy="203200"/>
          </a:xfrm>
          <a:prstGeom prst="roundRect">
            <a:avLst/>
          </a:prstGeom>
          <a:solidFill>
            <a:srgbClr val="E1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2CBA1A-4604-A86B-41EF-ED9C5AFBC2CD}"/>
              </a:ext>
            </a:extLst>
          </p:cNvPr>
          <p:cNvSpPr/>
          <p:nvPr/>
        </p:nvSpPr>
        <p:spPr>
          <a:xfrm>
            <a:off x="1905000" y="3162300"/>
            <a:ext cx="864108" cy="203200"/>
          </a:xfrm>
          <a:prstGeom prst="roundRect">
            <a:avLst/>
          </a:prstGeom>
          <a:solidFill>
            <a:srgbClr val="206B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613D5-7C0B-2573-6EB7-CD86B9D04FE5}"/>
              </a:ext>
            </a:extLst>
          </p:cNvPr>
          <p:cNvSpPr txBox="1"/>
          <p:nvPr/>
        </p:nvSpPr>
        <p:spPr>
          <a:xfrm>
            <a:off x="6604000" y="3124200"/>
            <a:ext cx="76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07084"/>
                </a:solidFill>
                <a:latin typeface="Aptos" panose="020B0004020202020204" pitchFamily="34" charset="0"/>
              </a:rPr>
              <a:t>18.9%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F296E-8DE4-9CC8-A543-145D3F93ACEF}"/>
              </a:ext>
            </a:extLst>
          </p:cNvPr>
          <p:cNvSpPr txBox="1"/>
          <p:nvPr/>
        </p:nvSpPr>
        <p:spPr>
          <a:xfrm>
            <a:off x="685800" y="37846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5303F"/>
                </a:solidFill>
                <a:latin typeface="Aptos" panose="020B0004020202020204" pitchFamily="34" charset="0"/>
              </a:rPr>
              <a:t>Hạng 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664108-00AF-BDE1-3FB4-173925A35A26}"/>
              </a:ext>
            </a:extLst>
          </p:cNvPr>
          <p:cNvSpPr/>
          <p:nvPr/>
        </p:nvSpPr>
        <p:spPr>
          <a:xfrm>
            <a:off x="1905000" y="3797300"/>
            <a:ext cx="4572000" cy="203200"/>
          </a:xfrm>
          <a:prstGeom prst="roundRect">
            <a:avLst/>
          </a:prstGeom>
          <a:solidFill>
            <a:srgbClr val="E1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977D45-2EBD-3511-1391-C563C6481759}"/>
              </a:ext>
            </a:extLst>
          </p:cNvPr>
          <p:cNvSpPr/>
          <p:nvPr/>
        </p:nvSpPr>
        <p:spPr>
          <a:xfrm>
            <a:off x="1905000" y="3797300"/>
            <a:ext cx="2880360" cy="203200"/>
          </a:xfrm>
          <a:prstGeom prst="roundRect">
            <a:avLst/>
          </a:prstGeom>
          <a:solidFill>
            <a:srgbClr val="3997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5E0010-5B11-CEC8-75DF-2F8ABC6AD8D0}"/>
              </a:ext>
            </a:extLst>
          </p:cNvPr>
          <p:cNvSpPr txBox="1"/>
          <p:nvPr/>
        </p:nvSpPr>
        <p:spPr>
          <a:xfrm>
            <a:off x="6604000" y="3759200"/>
            <a:ext cx="76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07084"/>
                </a:solidFill>
                <a:latin typeface="Aptos" panose="020B0004020202020204" pitchFamily="34" charset="0"/>
              </a:rPr>
              <a:t>63.0%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251F6A-1ABA-9248-71A7-8841410B4A75}"/>
              </a:ext>
            </a:extLst>
          </p:cNvPr>
          <p:cNvSpPr txBox="1"/>
          <p:nvPr/>
        </p:nvSpPr>
        <p:spPr>
          <a:xfrm>
            <a:off x="685800" y="44196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5303F"/>
                </a:solidFill>
                <a:latin typeface="Aptos" panose="020B0004020202020204" pitchFamily="34" charset="0"/>
              </a:rPr>
              <a:t>Hạng 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2D0620-5CF2-351A-9278-A14D284C3F2C}"/>
              </a:ext>
            </a:extLst>
          </p:cNvPr>
          <p:cNvSpPr/>
          <p:nvPr/>
        </p:nvSpPr>
        <p:spPr>
          <a:xfrm>
            <a:off x="1905000" y="4432300"/>
            <a:ext cx="4572000" cy="203200"/>
          </a:xfrm>
          <a:prstGeom prst="roundRect">
            <a:avLst/>
          </a:prstGeom>
          <a:solidFill>
            <a:srgbClr val="E1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27F4A0-EEE2-6CA9-E4A3-62811606D0A3}"/>
              </a:ext>
            </a:extLst>
          </p:cNvPr>
          <p:cNvSpPr/>
          <p:nvPr/>
        </p:nvSpPr>
        <p:spPr>
          <a:xfrm>
            <a:off x="1905000" y="4432300"/>
            <a:ext cx="2162556" cy="203200"/>
          </a:xfrm>
          <a:prstGeom prst="round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944DA3-30CB-47F8-A336-499D5DEA1E35}"/>
              </a:ext>
            </a:extLst>
          </p:cNvPr>
          <p:cNvSpPr txBox="1"/>
          <p:nvPr/>
        </p:nvSpPr>
        <p:spPr>
          <a:xfrm>
            <a:off x="6604000" y="4394200"/>
            <a:ext cx="76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07084"/>
                </a:solidFill>
                <a:latin typeface="Aptos" panose="020B0004020202020204" pitchFamily="34" charset="0"/>
              </a:rPr>
              <a:t>47.3%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2DC67-1026-8C56-81C1-8E784112CF8C}"/>
              </a:ext>
            </a:extLst>
          </p:cNvPr>
          <p:cNvSpPr txBox="1"/>
          <p:nvPr/>
        </p:nvSpPr>
        <p:spPr>
          <a:xfrm>
            <a:off x="685800" y="50546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5303F"/>
                </a:solidFill>
                <a:latin typeface="Aptos" panose="020B0004020202020204" pitchFamily="34" charset="0"/>
              </a:rPr>
              <a:t>Hạng 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BBF52B-7703-2489-9D17-F054AFC42D30}"/>
              </a:ext>
            </a:extLst>
          </p:cNvPr>
          <p:cNvSpPr/>
          <p:nvPr/>
        </p:nvSpPr>
        <p:spPr>
          <a:xfrm>
            <a:off x="1905000" y="5067300"/>
            <a:ext cx="4572000" cy="203200"/>
          </a:xfrm>
          <a:prstGeom prst="roundRect">
            <a:avLst/>
          </a:prstGeom>
          <a:solidFill>
            <a:srgbClr val="E1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16A936-DB59-DFB3-8AA7-432C291D2A6E}"/>
              </a:ext>
            </a:extLst>
          </p:cNvPr>
          <p:cNvSpPr/>
          <p:nvPr/>
        </p:nvSpPr>
        <p:spPr>
          <a:xfrm>
            <a:off x="1905000" y="5067300"/>
            <a:ext cx="1106424" cy="203200"/>
          </a:xfrm>
          <a:prstGeom prst="roundRect">
            <a:avLst/>
          </a:prstGeom>
          <a:solidFill>
            <a:srgbClr val="DA4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AA1DB-2288-4180-E04F-03D850F749CF}"/>
              </a:ext>
            </a:extLst>
          </p:cNvPr>
          <p:cNvSpPr txBox="1"/>
          <p:nvPr/>
        </p:nvSpPr>
        <p:spPr>
          <a:xfrm>
            <a:off x="6604000" y="5029200"/>
            <a:ext cx="76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607084"/>
                </a:solidFill>
                <a:latin typeface="Aptos" panose="020B0004020202020204" pitchFamily="34" charset="0"/>
              </a:rPr>
              <a:t>24.2%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F2A827-6AB5-6C7A-8900-9AB7EEB1650B}"/>
              </a:ext>
            </a:extLst>
          </p:cNvPr>
          <p:cNvSpPr/>
          <p:nvPr/>
        </p:nvSpPr>
        <p:spPr>
          <a:xfrm>
            <a:off x="7937500" y="2032000"/>
            <a:ext cx="3492500" cy="33528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850240-64A0-39A4-B2FE-6572F3CD2DEA}"/>
              </a:ext>
            </a:extLst>
          </p:cNvPr>
          <p:cNvSpPr txBox="1"/>
          <p:nvPr/>
        </p:nvSpPr>
        <p:spPr>
          <a:xfrm>
            <a:off x="8305800" y="23495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DB2BE"/>
                </a:solidFill>
                <a:latin typeface="Aptos" panose="020B0004020202020204" pitchFamily="34" charset="0"/>
              </a:rPr>
              <a:t>INSIGHT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F74A63-B01E-ECE6-620E-FB7FE0130DA8}"/>
              </a:ext>
            </a:extLst>
          </p:cNvPr>
          <p:cNvSpPr txBox="1"/>
          <p:nvPr/>
        </p:nvSpPr>
        <p:spPr>
          <a:xfrm>
            <a:off x="8305800" y="2844800"/>
            <a:ext cx="27305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“Women and children first” xuất hiện rõ trong dữ liệu; lợi thế tiếp theo thuộc về hành khách có hạng vé cao.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E1AC8-C41E-652A-F3E4-B7D1852C6119}"/>
              </a:ext>
            </a:extLst>
          </p:cNvPr>
          <p:cNvSpPr txBox="1"/>
          <p:nvPr/>
        </p:nvSpPr>
        <p:spPr>
          <a:xfrm>
            <a:off x="8305800" y="4495800"/>
            <a:ext cx="273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BFCFE1"/>
                </a:solidFill>
                <a:latin typeface="Aptos" panose="020B0004020202020204" pitchFamily="34" charset="0"/>
              </a:rPr>
              <a:t>Cần kết hợp Age, family và cabin thay vì dùng một biến đơn lẻ.</a:t>
            </a:r>
            <a:endParaRPr lang="en-US" sz="1200">
              <a:solidFill>
                <a:srgbClr val="BFCFE1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DE55E-DA5E-A02C-4702-17E42C31D5EE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8BE21A-C6A0-2571-D3DB-2A3D8B7FA17C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273752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15732-6FB5-CA80-30E0-1FCF63D5A359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04 ·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BB553-022C-F9B8-D40B-5F87592A0D80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12240"/>
                </a:solidFill>
                <a:latin typeface="Aptos" panose="020B0004020202020204" pitchFamily="34" charset="0"/>
              </a:rPr>
              <a:t>Biến thô được chuyển thành tín hiệu có ý nghĩa</a:t>
            </a:r>
            <a:endParaRPr lang="en-US" sz="2800" b="1">
              <a:solidFill>
                <a:srgbClr val="11224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398E29-2D9D-5A53-4B5C-3E02CF562B72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089AF-6748-05B2-18D3-9250519A9548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6CF7DE-7D37-FC72-9378-D6B20A157629}"/>
              </a:ext>
            </a:extLst>
          </p:cNvPr>
          <p:cNvSpPr/>
          <p:nvPr/>
        </p:nvSpPr>
        <p:spPr>
          <a:xfrm>
            <a:off x="685800" y="19050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48E9C-AD35-B6CF-0996-EDF323C1A3A8}"/>
              </a:ext>
            </a:extLst>
          </p:cNvPr>
          <p:cNvSpPr txBox="1"/>
          <p:nvPr/>
        </p:nvSpPr>
        <p:spPr>
          <a:xfrm>
            <a:off x="939800" y="21209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4F7A5-8E2B-41E1-D201-111E95DF1A78}"/>
              </a:ext>
            </a:extLst>
          </p:cNvPr>
          <p:cNvSpPr txBox="1"/>
          <p:nvPr/>
        </p:nvSpPr>
        <p:spPr>
          <a:xfrm>
            <a:off x="939800" y="24765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Mr · Mrs · Miss · Master · Rare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74B95-7378-C78B-D2A0-7C6CC5ED6CAE}"/>
              </a:ext>
            </a:extLst>
          </p:cNvPr>
          <p:cNvSpPr txBox="1"/>
          <p:nvPr/>
        </p:nvSpPr>
        <p:spPr>
          <a:xfrm>
            <a:off x="939800" y="29464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07084"/>
                </a:solidFill>
                <a:latin typeface="Aptos" panose="020B0004020202020204" pitchFamily="34" charset="0"/>
              </a:rPr>
              <a:t>Tuổi, giới và địa vị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2A2A8E-8B9B-7F9D-24D8-8AE229FA8523}"/>
              </a:ext>
            </a:extLst>
          </p:cNvPr>
          <p:cNvSpPr/>
          <p:nvPr/>
        </p:nvSpPr>
        <p:spPr>
          <a:xfrm>
            <a:off x="4419600" y="19050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12659-9D4F-82ED-A2A5-935AFD86C7B9}"/>
              </a:ext>
            </a:extLst>
          </p:cNvPr>
          <p:cNvSpPr txBox="1"/>
          <p:nvPr/>
        </p:nvSpPr>
        <p:spPr>
          <a:xfrm>
            <a:off x="4673600" y="21209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FAMILY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AC7099-9A8D-21BD-C625-108A1B8FEBC5}"/>
              </a:ext>
            </a:extLst>
          </p:cNvPr>
          <p:cNvSpPr txBox="1"/>
          <p:nvPr/>
        </p:nvSpPr>
        <p:spPr>
          <a:xfrm>
            <a:off x="4673600" y="24765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FamilySize · IsAlone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1CA5C-ECC8-E8AB-A975-A53481F90AAD}"/>
              </a:ext>
            </a:extLst>
          </p:cNvPr>
          <p:cNvSpPr txBox="1"/>
          <p:nvPr/>
        </p:nvSpPr>
        <p:spPr>
          <a:xfrm>
            <a:off x="4673600" y="29464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07084"/>
                </a:solidFill>
                <a:latin typeface="Aptos" panose="020B0004020202020204" pitchFamily="34" charset="0"/>
              </a:rPr>
              <a:t>Cấu trúc nhóm đi cùng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C493A-4304-1C36-85E3-C2C8C9FEAE9B}"/>
              </a:ext>
            </a:extLst>
          </p:cNvPr>
          <p:cNvSpPr/>
          <p:nvPr/>
        </p:nvSpPr>
        <p:spPr>
          <a:xfrm>
            <a:off x="8153400" y="19050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709352-AAEC-41DB-CC75-3457A39947EE}"/>
              </a:ext>
            </a:extLst>
          </p:cNvPr>
          <p:cNvSpPr txBox="1"/>
          <p:nvPr/>
        </p:nvSpPr>
        <p:spPr>
          <a:xfrm>
            <a:off x="8407400" y="21209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PRIORITY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015B6-99D3-8B94-72F0-86D96DA3B51B}"/>
              </a:ext>
            </a:extLst>
          </p:cNvPr>
          <p:cNvSpPr txBox="1"/>
          <p:nvPr/>
        </p:nvSpPr>
        <p:spPr>
          <a:xfrm>
            <a:off x="8407400" y="24765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IsChild · IsMother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C5D11-31C8-B426-F274-80D5B1BA810A}"/>
              </a:ext>
            </a:extLst>
          </p:cNvPr>
          <p:cNvSpPr txBox="1"/>
          <p:nvPr/>
        </p:nvSpPr>
        <p:spPr>
          <a:xfrm>
            <a:off x="8407400" y="29464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>
                <a:solidFill>
                  <a:srgbClr val="607084"/>
                </a:solidFill>
                <a:latin typeface="Aptos" panose="020B0004020202020204" pitchFamily="34" charset="0"/>
              </a:rPr>
              <a:t>Nhóm ưu tiên cứu hộ</a:t>
            </a:r>
            <a:endParaRPr lang="en-US" sz="1100">
              <a:solidFill>
                <a:srgbClr val="60708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875D47-73B5-71DB-47EF-B04D5CA39F27}"/>
              </a:ext>
            </a:extLst>
          </p:cNvPr>
          <p:cNvSpPr/>
          <p:nvPr/>
        </p:nvSpPr>
        <p:spPr>
          <a:xfrm>
            <a:off x="685800" y="38481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AB70F-95AD-206E-870E-9DA7049E729C}"/>
              </a:ext>
            </a:extLst>
          </p:cNvPr>
          <p:cNvSpPr txBox="1"/>
          <p:nvPr/>
        </p:nvSpPr>
        <p:spPr>
          <a:xfrm>
            <a:off x="939800" y="4064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ECONOMIC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2BD419-E07F-8004-2BE6-328DE9C6918D}"/>
              </a:ext>
            </a:extLst>
          </p:cNvPr>
          <p:cNvSpPr txBox="1"/>
          <p:nvPr/>
        </p:nvSpPr>
        <p:spPr>
          <a:xfrm>
            <a:off x="939800" y="4419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FarePerPerson · Pclass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7CE66B-E58A-DDDF-A9D6-E6EB5C3C1F7B}"/>
              </a:ext>
            </a:extLst>
          </p:cNvPr>
          <p:cNvSpPr txBox="1"/>
          <p:nvPr/>
        </p:nvSpPr>
        <p:spPr>
          <a:xfrm>
            <a:off x="939800" y="48895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>
                <a:solidFill>
                  <a:srgbClr val="607084"/>
                </a:solidFill>
                <a:latin typeface="Aptos" panose="020B0004020202020204" pitchFamily="34" charset="0"/>
              </a:rPr>
              <a:t>Khả năng chi trả tương đối</a:t>
            </a:r>
            <a:endParaRPr lang="en-US" sz="1100">
              <a:solidFill>
                <a:srgbClr val="607084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5F8EB20-90F9-D0F3-D581-CB5EB9C1EA30}"/>
              </a:ext>
            </a:extLst>
          </p:cNvPr>
          <p:cNvSpPr/>
          <p:nvPr/>
        </p:nvSpPr>
        <p:spPr>
          <a:xfrm>
            <a:off x="4419600" y="38481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213D2B-FDE4-0D75-223D-1AA66BF8BD0F}"/>
              </a:ext>
            </a:extLst>
          </p:cNvPr>
          <p:cNvSpPr txBox="1"/>
          <p:nvPr/>
        </p:nvSpPr>
        <p:spPr>
          <a:xfrm>
            <a:off x="4673600" y="4064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LOCATION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1065D-A60A-5C06-56E8-2D218A9791CE}"/>
              </a:ext>
            </a:extLst>
          </p:cNvPr>
          <p:cNvSpPr txBox="1"/>
          <p:nvPr/>
        </p:nvSpPr>
        <p:spPr>
          <a:xfrm>
            <a:off x="4673600" y="4419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CabinKnown · Deck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5666E1-7327-6C2D-1E7A-DA8016ED8CAE}"/>
              </a:ext>
            </a:extLst>
          </p:cNvPr>
          <p:cNvSpPr txBox="1"/>
          <p:nvPr/>
        </p:nvSpPr>
        <p:spPr>
          <a:xfrm>
            <a:off x="4673600" y="48895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>
                <a:solidFill>
                  <a:srgbClr val="607084"/>
                </a:solidFill>
                <a:latin typeface="Aptos" panose="020B0004020202020204" pitchFamily="34" charset="0"/>
              </a:rPr>
              <a:t>Vị trí và chất lượng cabin</a:t>
            </a:r>
            <a:endParaRPr lang="en-US" sz="1100">
              <a:solidFill>
                <a:srgbClr val="607084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3015FE-C5EA-36B5-1C6C-421CF3F5F288}"/>
              </a:ext>
            </a:extLst>
          </p:cNvPr>
          <p:cNvSpPr/>
          <p:nvPr/>
        </p:nvSpPr>
        <p:spPr>
          <a:xfrm>
            <a:off x="8153400" y="3848100"/>
            <a:ext cx="3378200" cy="1574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BA6890-D9DF-A6A9-2473-922D7B0B2AB4}"/>
              </a:ext>
            </a:extLst>
          </p:cNvPr>
          <p:cNvSpPr txBox="1"/>
          <p:nvPr/>
        </p:nvSpPr>
        <p:spPr>
          <a:xfrm>
            <a:off x="8407400" y="4064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206BC4"/>
                </a:solidFill>
                <a:latin typeface="Aptos" panose="020B0004020202020204" pitchFamily="34" charset="0"/>
              </a:rPr>
              <a:t>TICKET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DDF225-C67A-DE15-3100-6F1A65E28A33}"/>
              </a:ext>
            </a:extLst>
          </p:cNvPr>
          <p:cNvSpPr txBox="1"/>
          <p:nvPr/>
        </p:nvSpPr>
        <p:spPr>
          <a:xfrm>
            <a:off x="8407400" y="4419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TicketPrefix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F973BB-1818-6384-C2AD-7622A8659CD8}"/>
              </a:ext>
            </a:extLst>
          </p:cNvPr>
          <p:cNvSpPr txBox="1"/>
          <p:nvPr/>
        </p:nvSpPr>
        <p:spPr>
          <a:xfrm>
            <a:off x="8407400" y="48895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07084"/>
                </a:solidFill>
                <a:latin typeface="Aptos" panose="020B0004020202020204" pitchFamily="34" charset="0"/>
              </a:rPr>
              <a:t>Nhóm vé và hành trình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3137EB-113E-E872-6C31-9CC68F40A97D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5C8BF-A0EF-E635-BA04-FB7EF35C4987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11654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A03EE-A4F4-EB35-7CBD-E2C811E0430C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05 · MÔ HÌNH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92EF4-AFA6-BBF1-62C0-EF1170F0BCCC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MLP gọn, có regularization và early stopping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0F3B1-9FBE-8B93-DE37-FD7371F999E8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E4A38-29B2-D8AB-F82C-08642CE5217E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FC1F90-58D3-19F0-35F8-624DC2C40607}"/>
              </a:ext>
            </a:extLst>
          </p:cNvPr>
          <p:cNvSpPr/>
          <p:nvPr/>
        </p:nvSpPr>
        <p:spPr>
          <a:xfrm>
            <a:off x="635000" y="2565400"/>
            <a:ext cx="1498600" cy="10922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0E861-0822-3D82-15D6-41D932F50065}"/>
              </a:ext>
            </a:extLst>
          </p:cNvPr>
          <p:cNvSpPr txBox="1"/>
          <p:nvPr/>
        </p:nvSpPr>
        <p:spPr>
          <a:xfrm>
            <a:off x="7239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40FEA-6EF2-9F04-0844-67564430A048}"/>
              </a:ext>
            </a:extLst>
          </p:cNvPr>
          <p:cNvSpPr txBox="1"/>
          <p:nvPr/>
        </p:nvSpPr>
        <p:spPr>
          <a:xfrm>
            <a:off x="7239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E8FF6-5A27-8755-18B4-D1766311D7A8}"/>
              </a:ext>
            </a:extLst>
          </p:cNvPr>
          <p:cNvSpPr txBox="1"/>
          <p:nvPr/>
        </p:nvSpPr>
        <p:spPr>
          <a:xfrm>
            <a:off x="2159000" y="2921000"/>
            <a:ext cx="342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607084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6D7234-E194-B55F-5905-3273DBEA0C65}"/>
              </a:ext>
            </a:extLst>
          </p:cNvPr>
          <p:cNvSpPr/>
          <p:nvPr/>
        </p:nvSpPr>
        <p:spPr>
          <a:xfrm>
            <a:off x="2514600" y="2565400"/>
            <a:ext cx="1498600" cy="1092200"/>
          </a:xfrm>
          <a:prstGeom prst="roundRect">
            <a:avLst/>
          </a:prstGeom>
          <a:solidFill>
            <a:srgbClr val="206B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DF56B-68A1-AA97-7E08-924ABCC1E279}"/>
              </a:ext>
            </a:extLst>
          </p:cNvPr>
          <p:cNvSpPr txBox="1"/>
          <p:nvPr/>
        </p:nvSpPr>
        <p:spPr>
          <a:xfrm>
            <a:off x="26035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DENSE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E1CDA-89DF-8019-6916-47664C4D4B3B}"/>
              </a:ext>
            </a:extLst>
          </p:cNvPr>
          <p:cNvSpPr txBox="1"/>
          <p:nvPr/>
        </p:nvSpPr>
        <p:spPr>
          <a:xfrm>
            <a:off x="26035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64 / 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CE9774-2C96-EFE5-2D19-7AB1EC761D2D}"/>
              </a:ext>
            </a:extLst>
          </p:cNvPr>
          <p:cNvSpPr txBox="1"/>
          <p:nvPr/>
        </p:nvSpPr>
        <p:spPr>
          <a:xfrm>
            <a:off x="4038600" y="2921000"/>
            <a:ext cx="342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607084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DE4C3B-CE8F-2CA4-8514-B5153A72B16E}"/>
              </a:ext>
            </a:extLst>
          </p:cNvPr>
          <p:cNvSpPr/>
          <p:nvPr/>
        </p:nvSpPr>
        <p:spPr>
          <a:xfrm>
            <a:off x="4394200" y="2565400"/>
            <a:ext cx="1498600" cy="1092200"/>
          </a:xfrm>
          <a:prstGeom prst="roundRect">
            <a:avLst/>
          </a:prstGeom>
          <a:solidFill>
            <a:srgbClr val="1DB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D65E7-5292-AEC8-D4FA-7E7C79D14D25}"/>
              </a:ext>
            </a:extLst>
          </p:cNvPr>
          <p:cNvSpPr txBox="1"/>
          <p:nvPr/>
        </p:nvSpPr>
        <p:spPr>
          <a:xfrm>
            <a:off x="44831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BN + RELU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6144EF-08E3-D0A6-7E16-DFF349D3913E}"/>
              </a:ext>
            </a:extLst>
          </p:cNvPr>
          <p:cNvSpPr txBox="1"/>
          <p:nvPr/>
        </p:nvSpPr>
        <p:spPr>
          <a:xfrm>
            <a:off x="44831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ổn định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82C93E-3AC2-AAA2-E2FB-A599C44D980A}"/>
              </a:ext>
            </a:extLst>
          </p:cNvPr>
          <p:cNvSpPr txBox="1"/>
          <p:nvPr/>
        </p:nvSpPr>
        <p:spPr>
          <a:xfrm>
            <a:off x="5918200" y="2921000"/>
            <a:ext cx="342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607084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758976-A79C-8D47-CCF8-B6AB05FEB411}"/>
              </a:ext>
            </a:extLst>
          </p:cNvPr>
          <p:cNvSpPr/>
          <p:nvPr/>
        </p:nvSpPr>
        <p:spPr>
          <a:xfrm>
            <a:off x="6273800" y="2565400"/>
            <a:ext cx="1498600" cy="1092200"/>
          </a:xfrm>
          <a:prstGeom prst="round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A7935-B2C1-FBA6-8A55-E25A9B983931}"/>
              </a:ext>
            </a:extLst>
          </p:cNvPr>
          <p:cNvSpPr txBox="1"/>
          <p:nvPr/>
        </p:nvSpPr>
        <p:spPr>
          <a:xfrm>
            <a:off x="63627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DROPOUT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FF59FA-5B14-63A8-BA59-0BEFD15CDE3A}"/>
              </a:ext>
            </a:extLst>
          </p:cNvPr>
          <p:cNvSpPr txBox="1"/>
          <p:nvPr/>
        </p:nvSpPr>
        <p:spPr>
          <a:xfrm>
            <a:off x="63627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0.1–0.3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10CD2-3F85-4D82-7030-F721A4569ADD}"/>
              </a:ext>
            </a:extLst>
          </p:cNvPr>
          <p:cNvSpPr txBox="1"/>
          <p:nvPr/>
        </p:nvSpPr>
        <p:spPr>
          <a:xfrm>
            <a:off x="7797800" y="2921000"/>
            <a:ext cx="342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607084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3F9867-474F-AD9D-E61F-2BE6BDBF7318}"/>
              </a:ext>
            </a:extLst>
          </p:cNvPr>
          <p:cNvSpPr/>
          <p:nvPr/>
        </p:nvSpPr>
        <p:spPr>
          <a:xfrm>
            <a:off x="8153400" y="2565400"/>
            <a:ext cx="1498600" cy="1092200"/>
          </a:xfrm>
          <a:prstGeom prst="roundRect">
            <a:avLst/>
          </a:prstGeom>
          <a:solidFill>
            <a:srgbClr val="DA4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FCADA-ABFC-9AC7-5B92-010795DC4715}"/>
              </a:ext>
            </a:extLst>
          </p:cNvPr>
          <p:cNvSpPr txBox="1"/>
          <p:nvPr/>
        </p:nvSpPr>
        <p:spPr>
          <a:xfrm>
            <a:off x="82423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DENSE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4057B2-138D-5629-5584-41A77CB5D706}"/>
              </a:ext>
            </a:extLst>
          </p:cNvPr>
          <p:cNvSpPr txBox="1"/>
          <p:nvPr/>
        </p:nvSpPr>
        <p:spPr>
          <a:xfrm>
            <a:off x="82423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1 logit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6944AD-48B1-68E9-6BAF-D7FA11168B62}"/>
              </a:ext>
            </a:extLst>
          </p:cNvPr>
          <p:cNvSpPr txBox="1"/>
          <p:nvPr/>
        </p:nvSpPr>
        <p:spPr>
          <a:xfrm>
            <a:off x="9677400" y="2921000"/>
            <a:ext cx="3429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607084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F98205-21D1-E5CA-94E6-0E3CE963ADDF}"/>
              </a:ext>
            </a:extLst>
          </p:cNvPr>
          <p:cNvSpPr/>
          <p:nvPr/>
        </p:nvSpPr>
        <p:spPr>
          <a:xfrm>
            <a:off x="10033000" y="2565400"/>
            <a:ext cx="1498600" cy="1092200"/>
          </a:xfrm>
          <a:prstGeom prst="roundRect">
            <a:avLst/>
          </a:prstGeom>
          <a:solidFill>
            <a:srgbClr val="3997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80E35C-9DC0-DCCE-ECCC-5DDCE86960F3}"/>
              </a:ext>
            </a:extLst>
          </p:cNvPr>
          <p:cNvSpPr txBox="1"/>
          <p:nvPr/>
        </p:nvSpPr>
        <p:spPr>
          <a:xfrm>
            <a:off x="10121900" y="28194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SIGMOID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A6627A-13CB-9473-9353-6FDF62244345}"/>
              </a:ext>
            </a:extLst>
          </p:cNvPr>
          <p:cNvSpPr txBox="1"/>
          <p:nvPr/>
        </p:nvSpPr>
        <p:spPr>
          <a:xfrm>
            <a:off x="10121900" y="32004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P(sống)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70E9C82-6F1C-2117-A689-B9A7ABEC4C5D}"/>
              </a:ext>
            </a:extLst>
          </p:cNvPr>
          <p:cNvSpPr/>
          <p:nvPr/>
        </p:nvSpPr>
        <p:spPr>
          <a:xfrm>
            <a:off x="1485900" y="4394200"/>
            <a:ext cx="9220200" cy="9144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DB01EC-572B-9F8D-524D-FEED78CEF32A}"/>
              </a:ext>
            </a:extLst>
          </p:cNvPr>
          <p:cNvSpPr txBox="1"/>
          <p:nvPr/>
        </p:nvSpPr>
        <p:spPr>
          <a:xfrm>
            <a:off x="1803400" y="4673600"/>
            <a:ext cx="8585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12240"/>
                </a:solidFill>
                <a:latin typeface="Aptos" panose="020B0004020202020204" pitchFamily="34" charset="0"/>
              </a:rPr>
              <a:t>BCEWithLogitsLoss + AdamW + ReduceLROnPlateau + class weight + patience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240BE7-529C-B651-C060-B5C29F404EE6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53B9A-BE0E-201D-5779-698B3BA0C3B3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264798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61A5C-1B06-9EE9-8657-095E67E6817C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06 · THÍ NGHIỆM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7C839-C432-0215-1482-A4BDF33F3C25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Tuning theo F1; sanity check xác nhận pipeline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2FD13-D961-5DF2-B952-CAE926B718AC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8B0E4-B280-54F1-7407-D54D8F961283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23DD96-0C4A-7388-B962-8AF49AF784C7}"/>
              </a:ext>
            </a:extLst>
          </p:cNvPr>
          <p:cNvSpPr/>
          <p:nvPr/>
        </p:nvSpPr>
        <p:spPr>
          <a:xfrm>
            <a:off x="685800" y="1968500"/>
            <a:ext cx="2413000" cy="1320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90871-E42A-EBD3-0B35-A5A78F04171A}"/>
              </a:ext>
            </a:extLst>
          </p:cNvPr>
          <p:cNvSpPr txBox="1"/>
          <p:nvPr/>
        </p:nvSpPr>
        <p:spPr>
          <a:xfrm>
            <a:off x="889000" y="2209800"/>
            <a:ext cx="200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07084"/>
                </a:solidFill>
                <a:latin typeface="Aptos" panose="020B0004020202020204" pitchFamily="34" charset="0"/>
              </a:rPr>
              <a:t>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96BE1-B960-BECD-2083-43FC611311B8}"/>
              </a:ext>
            </a:extLst>
          </p:cNvPr>
          <p:cNvSpPr txBox="1"/>
          <p:nvPr/>
        </p:nvSpPr>
        <p:spPr>
          <a:xfrm>
            <a:off x="889000" y="2565400"/>
            <a:ext cx="2006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206BC4"/>
                </a:solidFill>
                <a:latin typeface="Aptos" panose="020B0004020202020204" pitchFamily="34" charset="0"/>
              </a:rPr>
              <a:t>79.8%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DCD55-5627-19F4-C4F9-1E6D894DDBD8}"/>
              </a:ext>
            </a:extLst>
          </p:cNvPr>
          <p:cNvSpPr/>
          <p:nvPr/>
        </p:nvSpPr>
        <p:spPr>
          <a:xfrm>
            <a:off x="3429000" y="1968500"/>
            <a:ext cx="2413000" cy="1320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F5E22-E1ED-51E7-80F4-1ECD00568B67}"/>
              </a:ext>
            </a:extLst>
          </p:cNvPr>
          <p:cNvSpPr txBox="1"/>
          <p:nvPr/>
        </p:nvSpPr>
        <p:spPr>
          <a:xfrm>
            <a:off x="3632200" y="2209800"/>
            <a:ext cx="200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07084"/>
                </a:solidFill>
                <a:latin typeface="Aptos" panose="020B0004020202020204" pitchFamily="34" charset="0"/>
              </a:rPr>
              <a:t>F1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D8504-BBB0-328D-B32D-DA0240D6EC2B}"/>
              </a:ext>
            </a:extLst>
          </p:cNvPr>
          <p:cNvSpPr txBox="1"/>
          <p:nvPr/>
        </p:nvSpPr>
        <p:spPr>
          <a:xfrm>
            <a:off x="3632200" y="2565400"/>
            <a:ext cx="2006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DB2BE"/>
                </a:solidFill>
                <a:latin typeface="Aptos" panose="020B0004020202020204" pitchFamily="34" charset="0"/>
              </a:rPr>
              <a:t>71.0%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DED712-C828-33A6-82ED-81ED2617F01F}"/>
              </a:ext>
            </a:extLst>
          </p:cNvPr>
          <p:cNvSpPr/>
          <p:nvPr/>
        </p:nvSpPr>
        <p:spPr>
          <a:xfrm>
            <a:off x="6172200" y="1968500"/>
            <a:ext cx="2413000" cy="1320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B111A-86D2-D1FA-625E-61ED5066DC61}"/>
              </a:ext>
            </a:extLst>
          </p:cNvPr>
          <p:cNvSpPr txBox="1"/>
          <p:nvPr/>
        </p:nvSpPr>
        <p:spPr>
          <a:xfrm>
            <a:off x="6375400" y="2209800"/>
            <a:ext cx="200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07084"/>
                </a:solidFill>
                <a:latin typeface="Aptos" panose="020B0004020202020204" pitchFamily="34" charset="0"/>
              </a:rPr>
              <a:t>PRECISION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04A5C-CB2B-B477-03C0-4607483263C3}"/>
              </a:ext>
            </a:extLst>
          </p:cNvPr>
          <p:cNvSpPr txBox="1"/>
          <p:nvPr/>
        </p:nvSpPr>
        <p:spPr>
          <a:xfrm>
            <a:off x="6375400" y="2565400"/>
            <a:ext cx="2006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399769"/>
                </a:solidFill>
                <a:latin typeface="Aptos" panose="020B0004020202020204" pitchFamily="34" charset="0"/>
              </a:rPr>
              <a:t>78.6%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0D303F-2F39-EB1F-7A99-114D6801474D}"/>
              </a:ext>
            </a:extLst>
          </p:cNvPr>
          <p:cNvSpPr/>
          <p:nvPr/>
        </p:nvSpPr>
        <p:spPr>
          <a:xfrm>
            <a:off x="8915400" y="1968500"/>
            <a:ext cx="2413000" cy="1320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F5F1A-237A-7F00-C1B1-E84D1DA59C6D}"/>
              </a:ext>
            </a:extLst>
          </p:cNvPr>
          <p:cNvSpPr txBox="1"/>
          <p:nvPr/>
        </p:nvSpPr>
        <p:spPr>
          <a:xfrm>
            <a:off x="9118600" y="2209800"/>
            <a:ext cx="2006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607084"/>
                </a:solidFill>
                <a:latin typeface="Aptos" panose="020B0004020202020204" pitchFamily="34" charset="0"/>
              </a:rPr>
              <a:t>RECALL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F60B1-5C3D-BCEA-CC4D-6B4A3071E209}"/>
              </a:ext>
            </a:extLst>
          </p:cNvPr>
          <p:cNvSpPr txBox="1"/>
          <p:nvPr/>
        </p:nvSpPr>
        <p:spPr>
          <a:xfrm>
            <a:off x="9118600" y="2565400"/>
            <a:ext cx="2006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F3B13D"/>
                </a:solidFill>
                <a:latin typeface="Aptos" panose="020B0004020202020204" pitchFamily="34" charset="0"/>
              </a:rPr>
              <a:t>64.7%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3F19EB-5D8E-B82E-2D54-DDECD5223BF1}"/>
              </a:ext>
            </a:extLst>
          </p:cNvPr>
          <p:cNvSpPr txBox="1"/>
          <p:nvPr/>
        </p:nvSpPr>
        <p:spPr>
          <a:xfrm>
            <a:off x="685800" y="38608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12240"/>
                </a:solidFill>
                <a:latin typeface="Aptos" panose="020B0004020202020204" pitchFamily="34" charset="0"/>
              </a:rPr>
              <a:t>Ma trận nhầm lẫn · logistic sanity check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12EDE7B-72A4-025F-E0CC-9314AEB2A0A0}"/>
              </a:ext>
            </a:extLst>
          </p:cNvPr>
          <p:cNvSpPr/>
          <p:nvPr/>
        </p:nvSpPr>
        <p:spPr>
          <a:xfrm>
            <a:off x="685800" y="4318000"/>
            <a:ext cx="1066800" cy="635000"/>
          </a:xfrm>
          <a:prstGeom prst="roundRect">
            <a:avLst/>
          </a:prstGeom>
          <a:solidFill>
            <a:srgbClr val="3997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B3ADE-91B2-3322-03F6-0588318B7FEB}"/>
              </a:ext>
            </a:extLst>
          </p:cNvPr>
          <p:cNvSpPr txBox="1"/>
          <p:nvPr/>
        </p:nvSpPr>
        <p:spPr>
          <a:xfrm>
            <a:off x="685800" y="44577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98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ADB739-ED14-9532-0E16-A270AFA2C514}"/>
              </a:ext>
            </a:extLst>
          </p:cNvPr>
          <p:cNvSpPr/>
          <p:nvPr/>
        </p:nvSpPr>
        <p:spPr>
          <a:xfrm>
            <a:off x="1854200" y="4318000"/>
            <a:ext cx="1066800" cy="635000"/>
          </a:xfrm>
          <a:prstGeom prst="roundRect">
            <a:avLst/>
          </a:prstGeom>
          <a:solidFill>
            <a:srgbClr val="DA4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9BCA2-CECA-BD99-F731-E57BB7A66BCA}"/>
              </a:ext>
            </a:extLst>
          </p:cNvPr>
          <p:cNvSpPr txBox="1"/>
          <p:nvPr/>
        </p:nvSpPr>
        <p:spPr>
          <a:xfrm>
            <a:off x="1854200" y="44577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968828-697B-5A6D-DF1A-5712E680B4AC}"/>
              </a:ext>
            </a:extLst>
          </p:cNvPr>
          <p:cNvSpPr/>
          <p:nvPr/>
        </p:nvSpPr>
        <p:spPr>
          <a:xfrm>
            <a:off x="685800" y="5054600"/>
            <a:ext cx="1066800" cy="635000"/>
          </a:xfrm>
          <a:prstGeom prst="roundRect">
            <a:avLst/>
          </a:prstGeom>
          <a:solidFill>
            <a:srgbClr val="DA4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556A0E-DEBC-EA2E-2003-2307D81976A4}"/>
              </a:ext>
            </a:extLst>
          </p:cNvPr>
          <p:cNvSpPr txBox="1"/>
          <p:nvPr/>
        </p:nvSpPr>
        <p:spPr>
          <a:xfrm>
            <a:off x="685800" y="5194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2AE798C-8971-DF60-DA47-50ACC994EB71}"/>
              </a:ext>
            </a:extLst>
          </p:cNvPr>
          <p:cNvSpPr/>
          <p:nvPr/>
        </p:nvSpPr>
        <p:spPr>
          <a:xfrm>
            <a:off x="1854200" y="5054600"/>
            <a:ext cx="1066800" cy="635000"/>
          </a:xfrm>
          <a:prstGeom prst="roundRect">
            <a:avLst/>
          </a:prstGeom>
          <a:solidFill>
            <a:srgbClr val="3997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6F8461-E889-FE82-6EB1-24DAEB9CD1F1}"/>
              </a:ext>
            </a:extLst>
          </p:cNvPr>
          <p:cNvSpPr txBox="1"/>
          <p:nvPr/>
        </p:nvSpPr>
        <p:spPr>
          <a:xfrm>
            <a:off x="1854200" y="51943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44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A905D92-E242-3183-C456-A90678EA84F9}"/>
              </a:ext>
            </a:extLst>
          </p:cNvPr>
          <p:cNvSpPr/>
          <p:nvPr/>
        </p:nvSpPr>
        <p:spPr>
          <a:xfrm>
            <a:off x="3937000" y="3987800"/>
            <a:ext cx="7493000" cy="13462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067B9F-08EB-13B6-CB17-FFF827221D55}"/>
              </a:ext>
            </a:extLst>
          </p:cNvPr>
          <p:cNvSpPr txBox="1"/>
          <p:nvPr/>
        </p:nvSpPr>
        <p:spPr>
          <a:xfrm>
            <a:off x="4292600" y="4279900"/>
            <a:ext cx="6794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b="1">
                <a:solidFill>
                  <a:srgbClr val="FFFFFF"/>
                </a:solidFill>
                <a:latin typeface="Aptos" panose="020B0004020202020204" pitchFamily="34" charset="0"/>
              </a:rPr>
              <a:t>Kết quả trên là baseline kiểm tra dữ liệu (178 mẫu). Notebook chọn cấu hình MLP tốt nhất theo F1 rồi lưu đầy đủ checkpoint và lịch sử huấn luyện.</a:t>
            </a:r>
            <a:endParaRPr lang="en-US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1BE4A3-7C6D-C4CF-311A-952EA5240153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09DCE6-FFBD-A589-EC28-AB6BC145C9EF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304611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5AD216-2D9F-B5E4-A07B-788922A164FB}"/>
              </a:ext>
            </a:extLst>
          </p:cNvPr>
          <p:cNvSpPr txBox="1"/>
          <p:nvPr/>
        </p:nvSpPr>
        <p:spPr>
          <a:xfrm>
            <a:off x="685800" y="381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DB2BE"/>
                </a:solidFill>
                <a:latin typeface="Aptos" panose="020B0004020202020204" pitchFamily="34" charset="0"/>
              </a:rPr>
              <a:t>07 · KẾT QUẢ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8E817-D7BE-BA47-7DD6-4A1E94687713}"/>
              </a:ext>
            </a:extLst>
          </p:cNvPr>
          <p:cNvSpPr txBox="1"/>
          <p:nvPr/>
        </p:nvSpPr>
        <p:spPr>
          <a:xfrm>
            <a:off x="685800" y="6985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12240"/>
                </a:solidFill>
                <a:latin typeface="Aptos" panose="020B0004020202020204" pitchFamily="34" charset="0"/>
              </a:rPr>
              <a:t>Submission hợp lệ và quy trình sẵn sàng tái lập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9F3CE8-584E-3168-BC93-40102351B602}"/>
              </a:ext>
            </a:extLst>
          </p:cNvPr>
          <p:cNvSpPr/>
          <p:nvPr/>
        </p:nvSpPr>
        <p:spPr>
          <a:xfrm>
            <a:off x="685800" y="1473200"/>
            <a:ext cx="762000" cy="508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BF8C7-C3E0-DC74-E8EF-18F3E7460ED7}"/>
              </a:ext>
            </a:extLst>
          </p:cNvPr>
          <p:cNvSpPr txBox="1"/>
          <p:nvPr/>
        </p:nvSpPr>
        <p:spPr>
          <a:xfrm>
            <a:off x="11176000" y="482600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607084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996A8-0EC4-731E-BAD9-59F60DD46E47}"/>
              </a:ext>
            </a:extLst>
          </p:cNvPr>
          <p:cNvSpPr/>
          <p:nvPr/>
        </p:nvSpPr>
        <p:spPr>
          <a:xfrm>
            <a:off x="685800" y="1968500"/>
            <a:ext cx="3937000" cy="3175000"/>
          </a:xfrm>
          <a:prstGeom prst="round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91A70-E2AC-5942-FEB1-C41A3D778CE0}"/>
              </a:ext>
            </a:extLst>
          </p:cNvPr>
          <p:cNvSpPr txBox="1"/>
          <p:nvPr/>
        </p:nvSpPr>
        <p:spPr>
          <a:xfrm>
            <a:off x="1016000" y="22987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DB2BE"/>
                </a:solidFill>
                <a:latin typeface="Aptos" panose="020B0004020202020204" pitchFamily="34" charset="0"/>
              </a:rPr>
              <a:t>SUBMISSION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B3636-475A-155B-9788-7E3298188346}"/>
              </a:ext>
            </a:extLst>
          </p:cNvPr>
          <p:cNvSpPr txBox="1"/>
          <p:nvPr/>
        </p:nvSpPr>
        <p:spPr>
          <a:xfrm>
            <a:off x="1016000" y="27686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Aptos" panose="020B0004020202020204" pitchFamily="34" charset="0"/>
              </a:rPr>
              <a:t>418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FCCB1-AD91-FAE9-D970-B117754DC210}"/>
              </a:ext>
            </a:extLst>
          </p:cNvPr>
          <p:cNvSpPr txBox="1"/>
          <p:nvPr/>
        </p:nvSpPr>
        <p:spPr>
          <a:xfrm>
            <a:off x="1016000" y="3492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dòng dự đoán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9BC7F-5EFF-46DD-2081-5F6B730F305E}"/>
              </a:ext>
            </a:extLst>
          </p:cNvPr>
          <p:cNvSpPr txBox="1"/>
          <p:nvPr/>
        </p:nvSpPr>
        <p:spPr>
          <a:xfrm>
            <a:off x="1016000" y="4140200"/>
            <a:ext cx="311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>
                <a:solidFill>
                  <a:srgbClr val="BFCFE1"/>
                </a:solidFill>
                <a:latin typeface="Aptos" panose="020B0004020202020204" pitchFamily="34" charset="0"/>
              </a:rPr>
              <a:t>156 hành khách được dự đoán sống sót</a:t>
            </a:r>
            <a:endParaRPr lang="en-US" sz="1400">
              <a:solidFill>
                <a:srgbClr val="BFCFE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93BF0-962A-4024-4AFA-0A64D0220B9C}"/>
              </a:ext>
            </a:extLst>
          </p:cNvPr>
          <p:cNvSpPr txBox="1"/>
          <p:nvPr/>
        </p:nvSpPr>
        <p:spPr>
          <a:xfrm>
            <a:off x="5334000" y="19685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12240"/>
                </a:solidFill>
                <a:latin typeface="Aptos" panose="020B0004020202020204" pitchFamily="34" charset="0"/>
              </a:rPr>
              <a:t>Artifacts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AC1A56-D2BA-0F1F-6438-797B58313F97}"/>
              </a:ext>
            </a:extLst>
          </p:cNvPr>
          <p:cNvSpPr txBox="1"/>
          <p:nvPr/>
        </p:nvSpPr>
        <p:spPr>
          <a:xfrm>
            <a:off x="5334000" y="2578100"/>
            <a:ext cx="3175000" cy="22108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best_model.pt · final_model.pt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preprocessor.joblib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params.json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tuning_results.csv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images/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submission.csv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C67534-6FBC-14C0-90E8-AB183E8EDF8F}"/>
              </a:ext>
            </a:extLst>
          </p:cNvPr>
          <p:cNvSpPr txBox="1"/>
          <p:nvPr/>
        </p:nvSpPr>
        <p:spPr>
          <a:xfrm>
            <a:off x="8890000" y="1968500"/>
            <a:ext cx="228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12240"/>
                </a:solidFill>
                <a:latin typeface="Aptos" panose="020B0004020202020204" pitchFamily="34" charset="0"/>
              </a:rPr>
              <a:t>Kết luận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6BADF6-CEF8-71BA-56A8-D42A845D04E1}"/>
              </a:ext>
            </a:extLst>
          </p:cNvPr>
          <p:cNvSpPr txBox="1"/>
          <p:nvPr/>
        </p:nvSpPr>
        <p:spPr>
          <a:xfrm>
            <a:off x="8890000" y="2578100"/>
            <a:ext cx="2667000" cy="18210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Pipeline không rò rỉ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Thí nghiệm có seed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Early stopping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Kiểm tra submission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25303F"/>
                </a:solidFill>
                <a:latin typeface="Aptos" panose="020B0004020202020204" pitchFamily="34" charset="0"/>
              </a:rPr>
              <a:t>•  Có thể mở rộng K-fold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8A4B5-6957-223E-D507-1F61A698F094}"/>
              </a:ext>
            </a:extLst>
          </p:cNvPr>
          <p:cNvSpPr txBox="1"/>
          <p:nvPr/>
        </p:nvSpPr>
        <p:spPr>
          <a:xfrm>
            <a:off x="685800" y="6489700"/>
            <a:ext cx="457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2AAB18-FF95-BC0A-AFFA-DD7E425FA466}"/>
              </a:ext>
            </a:extLst>
          </p:cNvPr>
          <p:cNvSpPr txBox="1"/>
          <p:nvPr/>
        </p:nvSpPr>
        <p:spPr>
          <a:xfrm>
            <a:off x="8890000" y="6489700"/>
            <a:ext cx="2667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07084"/>
                </a:solidFill>
                <a:latin typeface="Aptos" panose="020B0004020202020204" pitchFamily="34" charset="0"/>
              </a:rPr>
              <a:t>TITANIC · PYTORCH MLP</a:t>
            </a:r>
          </a:p>
        </p:txBody>
      </p:sp>
    </p:spTree>
    <p:extLst>
      <p:ext uri="{BB962C8B-B14F-4D97-AF65-F5344CB8AC3E}">
        <p14:creationId xmlns:p14="http://schemas.microsoft.com/office/powerpoint/2010/main" val="182830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F248AC-8CD6-528A-9B94-889259D661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2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D3B45-65E6-FDF6-129B-DADD7460E95A}"/>
              </a:ext>
            </a:extLst>
          </p:cNvPr>
          <p:cNvSpPr txBox="1"/>
          <p:nvPr/>
        </p:nvSpPr>
        <p:spPr>
          <a:xfrm>
            <a:off x="889000" y="1714500"/>
            <a:ext cx="10414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4600" b="1">
                <a:solidFill>
                  <a:srgbClr val="FFFFFF"/>
                </a:solidFill>
                <a:latin typeface="Aptos" panose="020B0004020202020204" pitchFamily="34" charset="0"/>
              </a:rPr>
              <a:t>CẢM ƠN</a:t>
            </a:r>
            <a:endParaRPr lang="en-US" sz="4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085F4-4379-B39A-4EE1-BE62AC563DE1}"/>
              </a:ext>
            </a:extLst>
          </p:cNvPr>
          <p:cNvSpPr txBox="1"/>
          <p:nvPr/>
        </p:nvSpPr>
        <p:spPr>
          <a:xfrm>
            <a:off x="889000" y="2870200"/>
            <a:ext cx="1041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DB2BE"/>
                </a:solidFill>
                <a:latin typeface="Aptos" panose="020B0004020202020204" pitchFamily="34" charset="0"/>
              </a:rPr>
              <a:t>Questions &amp; 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286A3-F4D0-5309-7561-DD3ECD81D81D}"/>
              </a:ext>
            </a:extLst>
          </p:cNvPr>
          <p:cNvSpPr/>
          <p:nvPr/>
        </p:nvSpPr>
        <p:spPr>
          <a:xfrm>
            <a:off x="5334000" y="3784600"/>
            <a:ext cx="1524000" cy="63500"/>
          </a:xfrm>
          <a:prstGeom prst="rect">
            <a:avLst/>
          </a:prstGeom>
          <a:solidFill>
            <a:srgbClr val="F3B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BA067-CDE0-8B0F-44E7-986B8D4C21D4}"/>
              </a:ext>
            </a:extLst>
          </p:cNvPr>
          <p:cNvSpPr txBox="1"/>
          <p:nvPr/>
        </p:nvSpPr>
        <p:spPr>
          <a:xfrm>
            <a:off x="889000" y="4445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BFCFE1"/>
                </a:solidFill>
                <a:latin typeface="Aptos" panose="020B0004020202020204" pitchFamily="34" charset="0"/>
              </a:rPr>
              <a:t>Trần Chí Vỹ · 3123580065</a:t>
            </a:r>
          </a:p>
        </p:txBody>
      </p:sp>
    </p:spTree>
    <p:extLst>
      <p:ext uri="{BB962C8B-B14F-4D97-AF65-F5344CB8AC3E}">
        <p14:creationId xmlns:p14="http://schemas.microsoft.com/office/powerpoint/2010/main" val="401456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Custom</PresentationFormat>
  <Paragraphs>164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Chí Vỹ</dc:creator>
  <cp:lastModifiedBy>Trần Chí Vỹ</cp:lastModifiedBy>
  <cp:revision>1</cp:revision>
  <dcterms:created xsi:type="dcterms:W3CDTF">2026-09-19T05:06:21Z</dcterms:created>
  <dcterms:modified xsi:type="dcterms:W3CDTF">2026-09-19T05:06:21Z</dcterms:modified>
</cp:coreProperties>
</file>