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libri (MS) Bold" charset="1" panose="020F0702030404030204"/>
      <p:regular r:id="rId26"/>
    </p:embeddedFont>
    <p:embeddedFont>
      <p:font typeface="Calibri (MS)" charset="1" panose="020F0502020204030204"/>
      <p:regular r:id="rId27"/>
    </p:embeddedFont>
    <p:embeddedFont>
      <p:font typeface="Public Sans Bold" charset="1" panose="00000000000000000000"/>
      <p:regular r:id="rId28"/>
    </p:embeddedFont>
    <p:embeddedFont>
      <p:font typeface="Public Sans"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embeddings/oleObject1.bin" Type="http://schemas.openxmlformats.org/officeDocument/2006/relationships/oleObject"/><Relationship Id="rId5" Target="http://titanic"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embeddings/oleObject3.bin" Type="http://schemas.openxmlformats.org/officeDocument/2006/relationships/oleObject"/><Relationship Id="rId5" Target="../media/image27.png" Type="http://schemas.openxmlformats.org/officeDocument/2006/relationships/image"/><Relationship Id="rId6" Target="../embeddings/oleObject4.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a:grpSpLocks noChangeAspect="true"/>
          </p:cNvGrpSpPr>
          <p:nvPr/>
        </p:nvGrpSpPr>
        <p:grpSpPr>
          <a:xfrm rot="0">
            <a:off x="5254374" y="31153"/>
            <a:ext cx="13033626" cy="9198592"/>
            <a:chOff x="0" y="0"/>
            <a:chExt cx="17378168" cy="12264789"/>
          </a:xfrm>
        </p:grpSpPr>
        <p:sp>
          <p:nvSpPr>
            <p:cNvPr name="Freeform 5" id="5"/>
            <p:cNvSpPr/>
            <p:nvPr/>
          </p:nvSpPr>
          <p:spPr>
            <a:xfrm flipH="false" flipV="false" rot="0">
              <a:off x="0" y="0"/>
              <a:ext cx="17378172" cy="12264771"/>
            </a:xfrm>
            <a:custGeom>
              <a:avLst/>
              <a:gdLst/>
              <a:ahLst/>
              <a:cxnLst/>
              <a:rect r="r" b="b" t="t" l="l"/>
              <a:pathLst>
                <a:path h="12264771" w="17378172">
                  <a:moveTo>
                    <a:pt x="0" y="0"/>
                  </a:moveTo>
                  <a:lnTo>
                    <a:pt x="17378172" y="0"/>
                  </a:lnTo>
                  <a:lnTo>
                    <a:pt x="17378172" y="12264771"/>
                  </a:lnTo>
                  <a:lnTo>
                    <a:pt x="0" y="12264771"/>
                  </a:lnTo>
                  <a:lnTo>
                    <a:pt x="0" y="0"/>
                  </a:lnTo>
                  <a:close/>
                </a:path>
              </a:pathLst>
            </a:custGeom>
            <a:blipFill>
              <a:blip r:embed="rId3"/>
              <a:stretch>
                <a:fillRect l="-25467" t="0" r="0" b="0"/>
              </a:stretch>
            </a:blipFill>
          </p:spPr>
        </p:sp>
      </p:grpSp>
      <p:grpSp>
        <p:nvGrpSpPr>
          <p:cNvPr name="Group 6" id="6"/>
          <p:cNvGrpSpPr/>
          <p:nvPr/>
        </p:nvGrpSpPr>
        <p:grpSpPr>
          <a:xfrm rot="0">
            <a:off x="1028700" y="5732370"/>
            <a:ext cx="820776" cy="26200"/>
            <a:chOff x="0" y="0"/>
            <a:chExt cx="1060968" cy="33867"/>
          </a:xfrm>
        </p:grpSpPr>
        <p:sp>
          <p:nvSpPr>
            <p:cNvPr name="Freeform 7" id="7"/>
            <p:cNvSpPr/>
            <p:nvPr/>
          </p:nvSpPr>
          <p:spPr>
            <a:xfrm flipH="false" flipV="false" rot="0">
              <a:off x="16891" y="0"/>
              <a:ext cx="1027176" cy="33909"/>
            </a:xfrm>
            <a:custGeom>
              <a:avLst/>
              <a:gdLst/>
              <a:ahLst/>
              <a:cxnLst/>
              <a:rect r="r" b="b" t="t" l="l"/>
              <a:pathLst>
                <a:path h="33909" w="1027176">
                  <a:moveTo>
                    <a:pt x="0" y="0"/>
                  </a:moveTo>
                  <a:lnTo>
                    <a:pt x="1027176" y="0"/>
                  </a:lnTo>
                  <a:lnTo>
                    <a:pt x="1027176" y="33909"/>
                  </a:lnTo>
                  <a:lnTo>
                    <a:pt x="0" y="33909"/>
                  </a:lnTo>
                  <a:close/>
                </a:path>
              </a:pathLst>
            </a:custGeom>
            <a:solidFill>
              <a:srgbClr val="000000"/>
            </a:solidFill>
          </p:spPr>
        </p:sp>
      </p:grpSp>
      <p:sp>
        <p:nvSpPr>
          <p:cNvPr name="TextBox 8" id="8"/>
          <p:cNvSpPr txBox="true"/>
          <p:nvPr/>
        </p:nvSpPr>
        <p:spPr>
          <a:xfrm rot="0">
            <a:off x="1028700" y="2692775"/>
            <a:ext cx="9003411" cy="2638425"/>
          </a:xfrm>
          <a:prstGeom prst="rect">
            <a:avLst/>
          </a:prstGeom>
        </p:spPr>
        <p:txBody>
          <a:bodyPr anchor="t" rtlCol="false" tIns="0" lIns="0" bIns="0" rIns="0">
            <a:spAutoFit/>
          </a:bodyPr>
          <a:lstStyle/>
          <a:p>
            <a:pPr algn="l">
              <a:lnSpc>
                <a:spcPts val="6600"/>
              </a:lnSpc>
            </a:pPr>
            <a:r>
              <a:rPr lang="en-US" b="true" sz="5500" spc="-187">
                <a:solidFill>
                  <a:srgbClr val="1D6DC2"/>
                </a:solidFill>
                <a:latin typeface="Calibri (MS) Bold"/>
                <a:ea typeface="Calibri (MS) Bold"/>
                <a:cs typeface="Calibri (MS) Bold"/>
                <a:sym typeface="Calibri (MS) Bold"/>
              </a:rPr>
              <a:t>Dự đoán Khả năng Sống sót Sau Thảm họa Titanic bằng Các Thuật toán Học Máy</a:t>
            </a:r>
          </a:p>
        </p:txBody>
      </p:sp>
      <p:sp>
        <p:nvSpPr>
          <p:cNvPr name="TextBox 9" id="9"/>
          <p:cNvSpPr txBox="true"/>
          <p:nvPr/>
        </p:nvSpPr>
        <p:spPr>
          <a:xfrm rot="0">
            <a:off x="1028700" y="6187022"/>
            <a:ext cx="10043369" cy="1882748"/>
          </a:xfrm>
          <a:prstGeom prst="rect">
            <a:avLst/>
          </a:prstGeom>
        </p:spPr>
        <p:txBody>
          <a:bodyPr anchor="t" rtlCol="false" tIns="0" lIns="0" bIns="0" rIns="0">
            <a:spAutoFit/>
          </a:bodyPr>
          <a:lstStyle/>
          <a:p>
            <a:pPr algn="l">
              <a:lnSpc>
                <a:spcPts val="4760"/>
              </a:lnSpc>
            </a:pPr>
            <a:r>
              <a:rPr lang="en-US" sz="3400">
                <a:solidFill>
                  <a:srgbClr val="474B4F"/>
                </a:solidFill>
                <a:latin typeface="Calibri (MS)"/>
                <a:ea typeface="Calibri (MS)"/>
                <a:cs typeface="Calibri (MS)"/>
                <a:sym typeface="Calibri (MS)"/>
              </a:rPr>
              <a:t>N</a:t>
            </a:r>
            <a:r>
              <a:rPr lang="en-US" sz="3400">
                <a:solidFill>
                  <a:srgbClr val="474B4F"/>
                </a:solidFill>
                <a:latin typeface="Calibri (MS)"/>
                <a:ea typeface="Calibri (MS)"/>
                <a:cs typeface="Calibri (MS)"/>
                <a:sym typeface="Calibri (MS)"/>
              </a:rPr>
              <a:t>guyễn Đăng Khoa, Lê Thị Trúc Ly, Lê Đoàn Kim Ngân, Lâm Tú Nhi</a:t>
            </a:r>
          </a:p>
          <a:p>
            <a:pPr algn="l">
              <a:lnSpc>
                <a:spcPts val="504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a:grpSpLocks noChangeAspect="true"/>
          </p:cNvGrpSpPr>
          <p:nvPr/>
        </p:nvGrpSpPr>
        <p:grpSpPr>
          <a:xfrm rot="0">
            <a:off x="-119849"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6" id="6"/>
          <p:cNvSpPr txBox="true"/>
          <p:nvPr/>
        </p:nvSpPr>
        <p:spPr>
          <a:xfrm rot="0">
            <a:off x="2052081" y="4274850"/>
            <a:ext cx="6901692" cy="962079"/>
          </a:xfrm>
          <a:prstGeom prst="rect">
            <a:avLst/>
          </a:prstGeom>
        </p:spPr>
        <p:txBody>
          <a:bodyPr anchor="t" rtlCol="false" tIns="0" lIns="0" bIns="0" rIns="0">
            <a:spAutoFit/>
          </a:bodyPr>
          <a:lstStyle/>
          <a:p>
            <a:pPr algn="l">
              <a:lnSpc>
                <a:spcPts val="6719"/>
              </a:lnSpc>
            </a:pPr>
            <a:r>
              <a:rPr lang="en-US" sz="5599" b="true">
                <a:solidFill>
                  <a:srgbClr val="1D6DC2"/>
                </a:solidFill>
                <a:latin typeface="Calibri (MS) Bold"/>
                <a:ea typeface="Calibri (MS) Bold"/>
                <a:cs typeface="Calibri (MS) Bold"/>
                <a:sym typeface="Calibri (MS) Bold"/>
              </a:rPr>
              <a:t>Nội dung trình bày</a:t>
            </a:r>
          </a:p>
        </p:txBody>
      </p:sp>
      <p:sp>
        <p:nvSpPr>
          <p:cNvPr name="TextBox 7" id="7"/>
          <p:cNvSpPr txBox="true"/>
          <p:nvPr/>
        </p:nvSpPr>
        <p:spPr>
          <a:xfrm rot="0">
            <a:off x="10776970" y="1659244"/>
            <a:ext cx="2587275" cy="628677"/>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Introduction</a:t>
            </a:r>
          </a:p>
        </p:txBody>
      </p:sp>
      <p:grpSp>
        <p:nvGrpSpPr>
          <p:cNvPr name="Group 8" id="8"/>
          <p:cNvGrpSpPr/>
          <p:nvPr/>
        </p:nvGrpSpPr>
        <p:grpSpPr>
          <a:xfrm rot="0">
            <a:off x="9229998" y="1423512"/>
            <a:ext cx="1123200" cy="1185865"/>
            <a:chOff x="0" y="0"/>
            <a:chExt cx="1497600" cy="1581154"/>
          </a:xfrm>
        </p:grpSpPr>
        <p:sp>
          <p:nvSpPr>
            <p:cNvPr name="Freeform 9" id="9"/>
            <p:cNvSpPr/>
            <p:nvPr/>
          </p:nvSpPr>
          <p:spPr>
            <a:xfrm flipH="false" flipV="false" rot="0">
              <a:off x="0" y="0"/>
              <a:ext cx="1497584" cy="1581185"/>
            </a:xfrm>
            <a:custGeom>
              <a:avLst/>
              <a:gdLst/>
              <a:ahLst/>
              <a:cxnLst/>
              <a:rect r="r" b="b" t="t" l="l"/>
              <a:pathLst>
                <a:path h="1581185" w="1497584">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sp>
        <p:sp>
          <p:nvSpPr>
            <p:cNvPr name="TextBox 10" id="10"/>
            <p:cNvSpPr txBox="true"/>
            <p:nvPr/>
          </p:nvSpPr>
          <p:spPr>
            <a:xfrm>
              <a:off x="0" y="76200"/>
              <a:ext cx="1497600" cy="1504954"/>
            </a:xfrm>
            <a:prstGeom prst="rect">
              <a:avLst/>
            </a:prstGeom>
          </p:spPr>
          <p:txBody>
            <a:bodyPr anchor="t" rtlCol="false" tIns="254000" lIns="254000" bIns="254000" rIns="254000"/>
            <a:lstStyle/>
            <a:p>
              <a:pPr algn="ctr">
                <a:lnSpc>
                  <a:spcPts val="3240"/>
                </a:lnSpc>
              </a:pPr>
              <a:r>
                <a:rPr lang="en-US" sz="4000" b="true">
                  <a:solidFill>
                    <a:srgbClr val="FFFFFF"/>
                  </a:solidFill>
                  <a:latin typeface="Calibri (MS) Bold"/>
                  <a:ea typeface="Calibri (MS) Bold"/>
                  <a:cs typeface="Calibri (MS) Bold"/>
                  <a:sym typeface="Calibri (MS) Bold"/>
                </a:rPr>
                <a:t>01</a:t>
              </a:r>
            </a:p>
          </p:txBody>
        </p:sp>
      </p:grpSp>
      <p:grpSp>
        <p:nvGrpSpPr>
          <p:cNvPr name="Group 11" id="11"/>
          <p:cNvGrpSpPr/>
          <p:nvPr/>
        </p:nvGrpSpPr>
        <p:grpSpPr>
          <a:xfrm rot="0">
            <a:off x="9229998" y="3203285"/>
            <a:ext cx="1123200" cy="1185865"/>
            <a:chOff x="0" y="0"/>
            <a:chExt cx="1497600" cy="1581154"/>
          </a:xfrm>
        </p:grpSpPr>
        <p:sp>
          <p:nvSpPr>
            <p:cNvPr name="Freeform 12" id="12"/>
            <p:cNvSpPr/>
            <p:nvPr/>
          </p:nvSpPr>
          <p:spPr>
            <a:xfrm flipH="false" flipV="false" rot="0">
              <a:off x="0" y="0"/>
              <a:ext cx="1497584" cy="1581185"/>
            </a:xfrm>
            <a:custGeom>
              <a:avLst/>
              <a:gdLst/>
              <a:ahLst/>
              <a:cxnLst/>
              <a:rect r="r" b="b" t="t" l="l"/>
              <a:pathLst>
                <a:path h="1581185" w="1497584">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sp>
        <p:sp>
          <p:nvSpPr>
            <p:cNvPr name="TextBox 13" id="13"/>
            <p:cNvSpPr txBox="true"/>
            <p:nvPr/>
          </p:nvSpPr>
          <p:spPr>
            <a:xfrm>
              <a:off x="0" y="76200"/>
              <a:ext cx="1497600" cy="1504954"/>
            </a:xfrm>
            <a:prstGeom prst="rect">
              <a:avLst/>
            </a:prstGeom>
          </p:spPr>
          <p:txBody>
            <a:bodyPr anchor="t" rtlCol="false" tIns="254000" lIns="254000" bIns="254000" rIns="254000"/>
            <a:lstStyle/>
            <a:p>
              <a:pPr algn="ctr">
                <a:lnSpc>
                  <a:spcPts val="3240"/>
                </a:lnSpc>
              </a:pPr>
              <a:r>
                <a:rPr lang="en-US" sz="4000" b="true">
                  <a:solidFill>
                    <a:srgbClr val="FFFFFF"/>
                  </a:solidFill>
                  <a:latin typeface="Calibri (MS) Bold"/>
                  <a:ea typeface="Calibri (MS) Bold"/>
                  <a:cs typeface="Calibri (MS) Bold"/>
                  <a:sym typeface="Calibri (MS) Bold"/>
                </a:rPr>
                <a:t>02</a:t>
              </a:r>
            </a:p>
          </p:txBody>
        </p:sp>
      </p:grpSp>
      <p:sp>
        <p:nvSpPr>
          <p:cNvPr name="TextBox 14" id="14"/>
          <p:cNvSpPr txBox="true"/>
          <p:nvPr/>
        </p:nvSpPr>
        <p:spPr>
          <a:xfrm rot="0">
            <a:off x="10776970" y="3439017"/>
            <a:ext cx="4085385" cy="628677"/>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Related Work </a:t>
            </a:r>
          </a:p>
        </p:txBody>
      </p:sp>
      <p:grpSp>
        <p:nvGrpSpPr>
          <p:cNvPr name="Group 15" id="15"/>
          <p:cNvGrpSpPr/>
          <p:nvPr/>
        </p:nvGrpSpPr>
        <p:grpSpPr>
          <a:xfrm rot="0">
            <a:off x="9240790" y="4813040"/>
            <a:ext cx="1123200" cy="1185865"/>
            <a:chOff x="0" y="0"/>
            <a:chExt cx="1497600" cy="1581154"/>
          </a:xfrm>
        </p:grpSpPr>
        <p:sp>
          <p:nvSpPr>
            <p:cNvPr name="Freeform 16" id="16"/>
            <p:cNvSpPr/>
            <p:nvPr/>
          </p:nvSpPr>
          <p:spPr>
            <a:xfrm flipH="false" flipV="false" rot="0">
              <a:off x="0" y="0"/>
              <a:ext cx="1497584" cy="1581185"/>
            </a:xfrm>
            <a:custGeom>
              <a:avLst/>
              <a:gdLst/>
              <a:ahLst/>
              <a:cxnLst/>
              <a:rect r="r" b="b" t="t" l="l"/>
              <a:pathLst>
                <a:path h="1581185" w="1497584">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sp>
        <p:sp>
          <p:nvSpPr>
            <p:cNvPr name="TextBox 17" id="17"/>
            <p:cNvSpPr txBox="true"/>
            <p:nvPr/>
          </p:nvSpPr>
          <p:spPr>
            <a:xfrm>
              <a:off x="0" y="76200"/>
              <a:ext cx="1497600" cy="1504954"/>
            </a:xfrm>
            <a:prstGeom prst="rect">
              <a:avLst/>
            </a:prstGeom>
          </p:spPr>
          <p:txBody>
            <a:bodyPr anchor="t" rtlCol="false" tIns="254000" lIns="254000" bIns="254000" rIns="254000"/>
            <a:lstStyle/>
            <a:p>
              <a:pPr algn="ctr">
                <a:lnSpc>
                  <a:spcPts val="3240"/>
                </a:lnSpc>
              </a:pPr>
              <a:r>
                <a:rPr lang="en-US" sz="4000" b="true">
                  <a:solidFill>
                    <a:srgbClr val="FFFFFF"/>
                  </a:solidFill>
                  <a:latin typeface="Calibri (MS) Bold"/>
                  <a:ea typeface="Calibri (MS) Bold"/>
                  <a:cs typeface="Calibri (MS) Bold"/>
                  <a:sym typeface="Calibri (MS) Bold"/>
                </a:rPr>
                <a:t>03</a:t>
              </a:r>
            </a:p>
          </p:txBody>
        </p:sp>
      </p:grpSp>
      <p:sp>
        <p:nvSpPr>
          <p:cNvPr name="TextBox 18" id="18"/>
          <p:cNvSpPr txBox="true"/>
          <p:nvPr/>
        </p:nvSpPr>
        <p:spPr>
          <a:xfrm rot="0">
            <a:off x="10776970" y="5048772"/>
            <a:ext cx="4085385" cy="628677"/>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Proposed methods</a:t>
            </a:r>
          </a:p>
        </p:txBody>
      </p:sp>
      <p:grpSp>
        <p:nvGrpSpPr>
          <p:cNvPr name="Group 19" id="19"/>
          <p:cNvGrpSpPr/>
          <p:nvPr/>
        </p:nvGrpSpPr>
        <p:grpSpPr>
          <a:xfrm rot="0">
            <a:off x="9229998" y="6379043"/>
            <a:ext cx="1123200" cy="1185865"/>
            <a:chOff x="0" y="0"/>
            <a:chExt cx="1497600" cy="1581154"/>
          </a:xfrm>
        </p:grpSpPr>
        <p:sp>
          <p:nvSpPr>
            <p:cNvPr name="Freeform 20" id="20"/>
            <p:cNvSpPr/>
            <p:nvPr/>
          </p:nvSpPr>
          <p:spPr>
            <a:xfrm flipH="false" flipV="false" rot="0">
              <a:off x="0" y="0"/>
              <a:ext cx="1497584" cy="1581185"/>
            </a:xfrm>
            <a:custGeom>
              <a:avLst/>
              <a:gdLst/>
              <a:ahLst/>
              <a:cxnLst/>
              <a:rect r="r" b="b" t="t" l="l"/>
              <a:pathLst>
                <a:path h="1581185" w="1497584">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sp>
        <p:sp>
          <p:nvSpPr>
            <p:cNvPr name="TextBox 21" id="21"/>
            <p:cNvSpPr txBox="true"/>
            <p:nvPr/>
          </p:nvSpPr>
          <p:spPr>
            <a:xfrm>
              <a:off x="0" y="76200"/>
              <a:ext cx="1497600" cy="1504954"/>
            </a:xfrm>
            <a:prstGeom prst="rect">
              <a:avLst/>
            </a:prstGeom>
          </p:spPr>
          <p:txBody>
            <a:bodyPr anchor="t" rtlCol="false" tIns="254000" lIns="254000" bIns="254000" rIns="254000"/>
            <a:lstStyle/>
            <a:p>
              <a:pPr algn="ctr">
                <a:lnSpc>
                  <a:spcPts val="3240"/>
                </a:lnSpc>
              </a:pPr>
              <a:r>
                <a:rPr lang="en-US" sz="4000" b="true">
                  <a:solidFill>
                    <a:srgbClr val="FFFFFF"/>
                  </a:solidFill>
                  <a:latin typeface="Calibri (MS) Bold"/>
                  <a:ea typeface="Calibri (MS) Bold"/>
                  <a:cs typeface="Calibri (MS) Bold"/>
                  <a:sym typeface="Calibri (MS) Bold"/>
                </a:rPr>
                <a:t>04</a:t>
              </a:r>
            </a:p>
          </p:txBody>
        </p:sp>
      </p:grpSp>
      <p:grpSp>
        <p:nvGrpSpPr>
          <p:cNvPr name="Group 22" id="22"/>
          <p:cNvGrpSpPr/>
          <p:nvPr/>
        </p:nvGrpSpPr>
        <p:grpSpPr>
          <a:xfrm rot="0">
            <a:off x="9229998" y="7945046"/>
            <a:ext cx="1123200" cy="1185865"/>
            <a:chOff x="0" y="0"/>
            <a:chExt cx="1497600" cy="1581154"/>
          </a:xfrm>
        </p:grpSpPr>
        <p:sp>
          <p:nvSpPr>
            <p:cNvPr name="Freeform 23" id="23"/>
            <p:cNvSpPr/>
            <p:nvPr/>
          </p:nvSpPr>
          <p:spPr>
            <a:xfrm flipH="false" flipV="false" rot="0">
              <a:off x="0" y="0"/>
              <a:ext cx="1497584" cy="1581185"/>
            </a:xfrm>
            <a:custGeom>
              <a:avLst/>
              <a:gdLst/>
              <a:ahLst/>
              <a:cxnLst/>
              <a:rect r="r" b="b" t="t" l="l"/>
              <a:pathLst>
                <a:path h="1581185" w="1497584">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sp>
        <p:sp>
          <p:nvSpPr>
            <p:cNvPr name="TextBox 24" id="24"/>
            <p:cNvSpPr txBox="true"/>
            <p:nvPr/>
          </p:nvSpPr>
          <p:spPr>
            <a:xfrm>
              <a:off x="0" y="76200"/>
              <a:ext cx="1497600" cy="1504954"/>
            </a:xfrm>
            <a:prstGeom prst="rect">
              <a:avLst/>
            </a:prstGeom>
          </p:spPr>
          <p:txBody>
            <a:bodyPr anchor="t" rtlCol="false" tIns="254000" lIns="254000" bIns="254000" rIns="254000"/>
            <a:lstStyle/>
            <a:p>
              <a:pPr algn="ctr">
                <a:lnSpc>
                  <a:spcPts val="3240"/>
                </a:lnSpc>
              </a:pPr>
              <a:r>
                <a:rPr lang="en-US" sz="4000" b="true">
                  <a:solidFill>
                    <a:srgbClr val="FFFFFF"/>
                  </a:solidFill>
                  <a:latin typeface="Calibri (MS) Bold"/>
                  <a:ea typeface="Calibri (MS) Bold"/>
                  <a:cs typeface="Calibri (MS) Bold"/>
                  <a:sym typeface="Calibri (MS) Bold"/>
                </a:rPr>
                <a:t>05</a:t>
              </a:r>
            </a:p>
          </p:txBody>
        </p:sp>
      </p:grpSp>
      <p:sp>
        <p:nvSpPr>
          <p:cNvPr name="TextBox 25" id="25"/>
          <p:cNvSpPr txBox="true"/>
          <p:nvPr/>
        </p:nvSpPr>
        <p:spPr>
          <a:xfrm rot="0">
            <a:off x="10776970" y="6614775"/>
            <a:ext cx="4694209" cy="628677"/>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Experience and result</a:t>
            </a:r>
          </a:p>
        </p:txBody>
      </p:sp>
      <p:sp>
        <p:nvSpPr>
          <p:cNvPr name="TextBox 26" id="26"/>
          <p:cNvSpPr txBox="true"/>
          <p:nvPr/>
        </p:nvSpPr>
        <p:spPr>
          <a:xfrm rot="0">
            <a:off x="10776970" y="8224527"/>
            <a:ext cx="4694209" cy="628677"/>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Conclusion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00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AutoShape 4" id="4"/>
          <p:cNvSpPr/>
          <p:nvPr/>
        </p:nvSpPr>
        <p:spPr>
          <a:xfrm>
            <a:off x="9368451" y="6004855"/>
            <a:ext cx="457400" cy="25400"/>
          </a:xfrm>
          <a:prstGeom prst="line">
            <a:avLst/>
          </a:prstGeom>
          <a:ln cap="rnd" w="9525">
            <a:solidFill>
              <a:srgbClr val="FFFFFF"/>
            </a:solidFill>
            <a:prstDash val="solid"/>
            <a:headEnd type="none" len="sm" w="sm"/>
            <a:tailEnd type="none" len="sm" w="sm"/>
          </a:ln>
        </p:spPr>
      </p:sp>
      <p:sp>
        <p:nvSpPr>
          <p:cNvPr name="Freeform 5" id="5"/>
          <p:cNvSpPr/>
          <p:nvPr/>
        </p:nvSpPr>
        <p:spPr>
          <a:xfrm flipH="false" flipV="false" rot="0">
            <a:off x="2633971" y="5143500"/>
            <a:ext cx="2258623" cy="2057400"/>
          </a:xfrm>
          <a:custGeom>
            <a:avLst/>
            <a:gdLst/>
            <a:ahLst/>
            <a:cxnLst/>
            <a:rect r="r" b="b" t="t" l="l"/>
            <a:pathLst>
              <a:path h="2057400" w="2258623">
                <a:moveTo>
                  <a:pt x="0" y="0"/>
                </a:moveTo>
                <a:lnTo>
                  <a:pt x="2258623" y="0"/>
                </a:lnTo>
                <a:lnTo>
                  <a:pt x="2258623"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420235" y="5637075"/>
            <a:ext cx="2405616" cy="1070251"/>
            <a:chOff x="0" y="0"/>
            <a:chExt cx="633578" cy="281877"/>
          </a:xfrm>
        </p:grpSpPr>
        <p:sp>
          <p:nvSpPr>
            <p:cNvPr name="Freeform 7" id="7"/>
            <p:cNvSpPr/>
            <p:nvPr/>
          </p:nvSpPr>
          <p:spPr>
            <a:xfrm flipH="false" flipV="false" rot="0">
              <a:off x="0" y="0"/>
              <a:ext cx="633578" cy="281877"/>
            </a:xfrm>
            <a:custGeom>
              <a:avLst/>
              <a:gdLst/>
              <a:ahLst/>
              <a:cxnLst/>
              <a:rect r="r" b="b" t="t" l="l"/>
              <a:pathLst>
                <a:path h="281877" w="633578">
                  <a:moveTo>
                    <a:pt x="140938" y="0"/>
                  </a:moveTo>
                  <a:lnTo>
                    <a:pt x="492640" y="0"/>
                  </a:lnTo>
                  <a:cubicBezTo>
                    <a:pt x="570478" y="0"/>
                    <a:pt x="633578" y="63100"/>
                    <a:pt x="633578" y="140938"/>
                  </a:cubicBezTo>
                  <a:lnTo>
                    <a:pt x="633578" y="140938"/>
                  </a:lnTo>
                  <a:cubicBezTo>
                    <a:pt x="633578" y="178318"/>
                    <a:pt x="618729" y="214166"/>
                    <a:pt x="592298" y="240597"/>
                  </a:cubicBezTo>
                  <a:cubicBezTo>
                    <a:pt x="565867" y="267028"/>
                    <a:pt x="530019" y="281877"/>
                    <a:pt x="492640" y="281877"/>
                  </a:cubicBezTo>
                  <a:lnTo>
                    <a:pt x="140938" y="281877"/>
                  </a:lnTo>
                  <a:cubicBezTo>
                    <a:pt x="103559" y="281877"/>
                    <a:pt x="67711" y="267028"/>
                    <a:pt x="41280" y="240597"/>
                  </a:cubicBezTo>
                  <a:cubicBezTo>
                    <a:pt x="14849" y="214166"/>
                    <a:pt x="0" y="178318"/>
                    <a:pt x="0" y="140938"/>
                  </a:cubicBezTo>
                  <a:lnTo>
                    <a:pt x="0" y="140938"/>
                  </a:lnTo>
                  <a:cubicBezTo>
                    <a:pt x="0" y="103559"/>
                    <a:pt x="14849" y="67711"/>
                    <a:pt x="41280" y="41280"/>
                  </a:cubicBezTo>
                  <a:cubicBezTo>
                    <a:pt x="67711" y="14849"/>
                    <a:pt x="103559" y="0"/>
                    <a:pt x="140938" y="0"/>
                  </a:cubicBezTo>
                  <a:close/>
                </a:path>
              </a:pathLst>
            </a:custGeom>
            <a:solidFill>
              <a:srgbClr val="0A5FBB"/>
            </a:solidFill>
          </p:spPr>
        </p:sp>
        <p:sp>
          <p:nvSpPr>
            <p:cNvPr name="TextBox 8" id="8"/>
            <p:cNvSpPr txBox="true"/>
            <p:nvPr/>
          </p:nvSpPr>
          <p:spPr>
            <a:xfrm>
              <a:off x="0" y="-200025"/>
              <a:ext cx="633578" cy="481902"/>
            </a:xfrm>
            <a:prstGeom prst="rect">
              <a:avLst/>
            </a:prstGeom>
          </p:spPr>
          <p:txBody>
            <a:bodyPr anchor="ctr" rtlCol="false" tIns="50800" lIns="50800" bIns="50800" rIns="50800"/>
            <a:lstStyle/>
            <a:p>
              <a:pPr algn="ctr">
                <a:lnSpc>
                  <a:spcPts val="4679"/>
                </a:lnSpc>
              </a:pPr>
              <a:r>
                <a:rPr lang="en-US" b="true" sz="2599">
                  <a:solidFill>
                    <a:srgbClr val="FFFFFF"/>
                  </a:solidFill>
                  <a:latin typeface="Calibri (MS) Bold"/>
                  <a:ea typeface="Calibri (MS) Bold"/>
                  <a:cs typeface="Calibri (MS) Bold"/>
                  <a:sym typeface="Calibri (MS) Bold"/>
                </a:rPr>
                <a:t>MODELS</a:t>
              </a:r>
            </a:p>
          </p:txBody>
        </p:sp>
      </p:grpSp>
      <p:sp>
        <p:nvSpPr>
          <p:cNvPr name="TextBox 9" id="9"/>
          <p:cNvSpPr txBox="true"/>
          <p:nvPr/>
        </p:nvSpPr>
        <p:spPr>
          <a:xfrm rot="0">
            <a:off x="1731181" y="2241577"/>
            <a:ext cx="14803639" cy="2365267"/>
          </a:xfrm>
          <a:prstGeom prst="rect">
            <a:avLst/>
          </a:prstGeom>
        </p:spPr>
        <p:txBody>
          <a:bodyPr anchor="t" rtlCol="false" tIns="0" lIns="0" bIns="0" rIns="0">
            <a:spAutoFit/>
          </a:bodyPr>
          <a:lstStyle/>
          <a:p>
            <a:pPr algn="l">
              <a:lnSpc>
                <a:spcPts val="4759"/>
              </a:lnSpc>
            </a:pPr>
            <a:r>
              <a:rPr lang="en-US" sz="2799" b="true">
                <a:solidFill>
                  <a:srgbClr val="262828"/>
                </a:solidFill>
                <a:latin typeface="Public Sans Bold"/>
                <a:ea typeface="Public Sans Bold"/>
                <a:cs typeface="Public Sans Bold"/>
                <a:sym typeface="Public Sans Bold"/>
              </a:rPr>
              <a:t>Vấn đề: </a:t>
            </a:r>
          </a:p>
          <a:p>
            <a:pPr algn="l" marL="604518" indent="-302259" lvl="1">
              <a:lnSpc>
                <a:spcPts val="4759"/>
              </a:lnSpc>
              <a:buFont typeface="Arial"/>
              <a:buChar char="•"/>
            </a:pPr>
            <a:r>
              <a:rPr lang="en-US" sz="2799">
                <a:solidFill>
                  <a:srgbClr val="262828"/>
                </a:solidFill>
                <a:latin typeface="Public Sans"/>
                <a:ea typeface="Public Sans"/>
                <a:cs typeface="Public Sans"/>
                <a:sym typeface="Public Sans"/>
              </a:rPr>
              <a:t>Input: Đặc điểm cá nhân và thông tin chuyến đi của khách hàng </a:t>
            </a:r>
          </a:p>
          <a:p>
            <a:pPr algn="l" marL="604518" indent="-302259" lvl="1">
              <a:lnSpc>
                <a:spcPts val="4759"/>
              </a:lnSpc>
              <a:buFont typeface="Arial"/>
              <a:buChar char="•"/>
            </a:pPr>
            <a:r>
              <a:rPr lang="en-US" sz="2799">
                <a:solidFill>
                  <a:srgbClr val="262828"/>
                </a:solidFill>
                <a:latin typeface="Public Sans"/>
                <a:ea typeface="Public Sans"/>
                <a:cs typeface="Public Sans"/>
                <a:sym typeface="Public Sans"/>
              </a:rPr>
              <a:t>Output: Dự đoán khả năng sống sót của khách hàng (0: không sống sót, 1: sống sót)</a:t>
            </a:r>
          </a:p>
          <a:p>
            <a:pPr algn="l" marL="0" indent="0" lvl="0">
              <a:lnSpc>
                <a:spcPts val="4759"/>
              </a:lnSpc>
            </a:pPr>
          </a:p>
        </p:txBody>
      </p:sp>
      <p:sp>
        <p:nvSpPr>
          <p:cNvPr name="TextBox 10" id="10"/>
          <p:cNvSpPr txBox="true"/>
          <p:nvPr/>
        </p:nvSpPr>
        <p:spPr>
          <a:xfrm rot="0">
            <a:off x="12201438" y="6053883"/>
            <a:ext cx="3060988" cy="676221"/>
          </a:xfrm>
          <a:prstGeom prst="rect">
            <a:avLst/>
          </a:prstGeom>
        </p:spPr>
        <p:txBody>
          <a:bodyPr anchor="t" rtlCol="false" tIns="0" lIns="0" bIns="0" rIns="0">
            <a:spAutoFit/>
          </a:bodyPr>
          <a:lstStyle/>
          <a:p>
            <a:pPr algn="ctr">
              <a:lnSpc>
                <a:spcPts val="5399"/>
              </a:lnSpc>
              <a:spcBef>
                <a:spcPct val="0"/>
              </a:spcBef>
            </a:pPr>
            <a:r>
              <a:rPr lang="en-US" sz="2999">
                <a:solidFill>
                  <a:srgbClr val="000000"/>
                </a:solidFill>
                <a:latin typeface="Calibri (MS)"/>
                <a:ea typeface="Calibri (MS)"/>
                <a:cs typeface="Calibri (MS)"/>
                <a:sym typeface="Calibri (MS)"/>
              </a:rPr>
              <a:t>Surv</a:t>
            </a:r>
            <a:r>
              <a:rPr lang="en-US" sz="2999">
                <a:solidFill>
                  <a:srgbClr val="000000"/>
                </a:solidFill>
                <a:latin typeface="Calibri (MS)"/>
                <a:ea typeface="Calibri (MS)"/>
                <a:cs typeface="Calibri (MS)"/>
                <a:sym typeface="Calibri (MS)"/>
              </a:rPr>
              <a:t>ived (1): 38.4% </a:t>
            </a:r>
          </a:p>
        </p:txBody>
      </p:sp>
      <p:sp>
        <p:nvSpPr>
          <p:cNvPr name="AutoShape 11" id="11"/>
          <p:cNvSpPr/>
          <p:nvPr/>
        </p:nvSpPr>
        <p:spPr>
          <a:xfrm flipV="true">
            <a:off x="5092619" y="6172200"/>
            <a:ext cx="1878137" cy="0"/>
          </a:xfrm>
          <a:prstGeom prst="line">
            <a:avLst/>
          </a:prstGeom>
          <a:ln cap="flat" w="38100">
            <a:solidFill>
              <a:srgbClr val="165292"/>
            </a:solidFill>
            <a:prstDash val="solid"/>
            <a:headEnd type="none" len="sm" w="sm"/>
            <a:tailEnd type="triangle" len="med" w="lg"/>
          </a:ln>
        </p:spPr>
      </p:sp>
      <p:sp>
        <p:nvSpPr>
          <p:cNvPr name="AutoShape 12" id="12"/>
          <p:cNvSpPr/>
          <p:nvPr/>
        </p:nvSpPr>
        <p:spPr>
          <a:xfrm flipV="true">
            <a:off x="10022489" y="6191250"/>
            <a:ext cx="1878137" cy="0"/>
          </a:xfrm>
          <a:prstGeom prst="line">
            <a:avLst/>
          </a:prstGeom>
          <a:ln cap="flat" w="38100">
            <a:solidFill>
              <a:srgbClr val="165292"/>
            </a:solidFill>
            <a:prstDash val="solid"/>
            <a:headEnd type="none" len="sm" w="sm"/>
            <a:tailEnd type="triangle" len="med" w="lg"/>
          </a:ln>
        </p:spPr>
      </p:sp>
      <p:sp>
        <p:nvSpPr>
          <p:cNvPr name="TextBox 13" id="13"/>
          <p:cNvSpPr txBox="true"/>
          <p:nvPr/>
        </p:nvSpPr>
        <p:spPr>
          <a:xfrm rot="0">
            <a:off x="12224777" y="5518758"/>
            <a:ext cx="3695538" cy="676221"/>
          </a:xfrm>
          <a:prstGeom prst="rect">
            <a:avLst/>
          </a:prstGeom>
        </p:spPr>
        <p:txBody>
          <a:bodyPr anchor="t" rtlCol="false" tIns="0" lIns="0" bIns="0" rIns="0">
            <a:spAutoFit/>
          </a:bodyPr>
          <a:lstStyle/>
          <a:p>
            <a:pPr algn="ctr">
              <a:lnSpc>
                <a:spcPts val="5399"/>
              </a:lnSpc>
              <a:spcBef>
                <a:spcPct val="0"/>
              </a:spcBef>
            </a:pPr>
            <a:r>
              <a:rPr lang="en-US" sz="2999">
                <a:solidFill>
                  <a:srgbClr val="000000"/>
                </a:solidFill>
                <a:latin typeface="Calibri (MS)"/>
                <a:ea typeface="Calibri (MS)"/>
                <a:cs typeface="Calibri (MS)"/>
                <a:sym typeface="Calibri (MS)"/>
              </a:rPr>
              <a:t>Not surv</a:t>
            </a:r>
            <a:r>
              <a:rPr lang="en-US" sz="2999">
                <a:solidFill>
                  <a:srgbClr val="000000"/>
                </a:solidFill>
                <a:latin typeface="Calibri (MS)"/>
                <a:ea typeface="Calibri (MS)"/>
                <a:cs typeface="Calibri (MS)"/>
                <a:sym typeface="Calibri (MS)"/>
              </a:rPr>
              <a:t>ived (0):  61.6%</a:t>
            </a:r>
          </a:p>
        </p:txBody>
      </p:sp>
      <p:sp>
        <p:nvSpPr>
          <p:cNvPr name="TextBox 14" id="14"/>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1. Introduction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aphicFrame>
        <p:nvGraphicFramePr>
          <p:cNvPr name="Object 4" id="4"/>
          <p:cNvGraphicFramePr/>
          <p:nvPr/>
        </p:nvGraphicFramePr>
        <p:xfrm>
          <a:off x="3017913" y="4193031"/>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1742183" y="2065861"/>
            <a:ext cx="14803639" cy="1765219"/>
          </a:xfrm>
          <a:prstGeom prst="rect">
            <a:avLst/>
          </a:prstGeom>
        </p:spPr>
        <p:txBody>
          <a:bodyPr anchor="t" rtlCol="false" tIns="0" lIns="0" bIns="0" rIns="0">
            <a:spAutoFit/>
          </a:bodyPr>
          <a:lstStyle/>
          <a:p>
            <a:pPr algn="l">
              <a:lnSpc>
                <a:spcPts val="4759"/>
              </a:lnSpc>
            </a:pPr>
            <a:r>
              <a:rPr lang="en-US" sz="2799" b="true">
                <a:solidFill>
                  <a:srgbClr val="262828"/>
                </a:solidFill>
                <a:latin typeface="Public Sans Bold"/>
                <a:ea typeface="Public Sans Bold"/>
                <a:cs typeface="Public Sans Bold"/>
                <a:sym typeface="Public Sans Bold"/>
              </a:rPr>
              <a:t>Dữ liệu:</a:t>
            </a:r>
          </a:p>
          <a:p>
            <a:pPr algn="l" marL="604518" indent="-302259" lvl="1">
              <a:lnSpc>
                <a:spcPts val="4759"/>
              </a:lnSpc>
              <a:buFont typeface="Arial"/>
              <a:buChar char="•"/>
            </a:pPr>
            <a:r>
              <a:rPr lang="en-US" b="true" sz="2799">
                <a:solidFill>
                  <a:srgbClr val="262828"/>
                </a:solidFill>
                <a:latin typeface="Public Sans Bold"/>
                <a:ea typeface="Public Sans Bold"/>
                <a:cs typeface="Public Sans Bold"/>
                <a:sym typeface="Public Sans Bold"/>
              </a:rPr>
              <a:t>Bộ dữ liệu Titanic từ Kaggle (891 mẫu huấn luyện, 418 mẫu kiểm thử).</a:t>
            </a:r>
          </a:p>
          <a:p>
            <a:pPr algn="l" marL="604518" indent="-302259" lvl="1">
              <a:lnSpc>
                <a:spcPts val="4759"/>
              </a:lnSpc>
              <a:buFont typeface="Arial"/>
              <a:buChar char="•"/>
            </a:pPr>
            <a:r>
              <a:rPr lang="en-US" b="true" sz="2799" u="sng">
                <a:solidFill>
                  <a:srgbClr val="0A5FBB"/>
                </a:solidFill>
                <a:latin typeface="Public Sans Bold"/>
                <a:ea typeface="Public Sans Bold"/>
                <a:cs typeface="Public Sans Bold"/>
                <a:sym typeface="Public Sans Bold"/>
                <a:hlinkClick r:id="rId5" tooltip="http://titanic"/>
              </a:rPr>
              <a:t>Titanic - Machine Learning from Disaster</a:t>
            </a:r>
          </a:p>
        </p:txBody>
      </p:sp>
      <p:sp>
        <p:nvSpPr>
          <p:cNvPr name="TextBox 6" id="6"/>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1. Introduction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8718660" y="3533192"/>
            <a:ext cx="850678" cy="926860"/>
          </a:xfrm>
          <a:custGeom>
            <a:avLst/>
            <a:gdLst/>
            <a:ahLst/>
            <a:cxnLst/>
            <a:rect r="r" b="b" t="t" l="l"/>
            <a:pathLst>
              <a:path h="926860" w="850678">
                <a:moveTo>
                  <a:pt x="0" y="0"/>
                </a:moveTo>
                <a:lnTo>
                  <a:pt x="850678" y="0"/>
                </a:lnTo>
                <a:lnTo>
                  <a:pt x="850678" y="926860"/>
                </a:lnTo>
                <a:lnTo>
                  <a:pt x="0" y="926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121576" y="5201189"/>
            <a:ext cx="6044848" cy="1111914"/>
          </a:xfrm>
          <a:prstGeom prst="rect">
            <a:avLst/>
          </a:prstGeom>
        </p:spPr>
        <p:txBody>
          <a:bodyPr anchor="t" rtlCol="false" tIns="0" lIns="0" bIns="0" rIns="0">
            <a:spAutoFit/>
          </a:bodyPr>
          <a:lstStyle/>
          <a:p>
            <a:pPr algn="ctr">
              <a:lnSpc>
                <a:spcPts val="3600"/>
              </a:lnSpc>
            </a:pPr>
            <a:r>
              <a:rPr lang="en-US" sz="2000">
                <a:solidFill>
                  <a:srgbClr val="FFFFFF"/>
                </a:solidFill>
                <a:latin typeface="Calibri (MS)"/>
                <a:ea typeface="Calibri (MS)"/>
                <a:cs typeface="Calibri (MS)"/>
                <a:sym typeface="Calibri (MS)"/>
              </a:rPr>
              <a:t>This Template Is Designed By Zuo An,It Will Help You Make You Report Easy And Fast. </a:t>
            </a:r>
          </a:p>
        </p:txBody>
      </p:sp>
      <p:sp>
        <p:nvSpPr>
          <p:cNvPr name="AutoShape 6" id="6"/>
          <p:cNvSpPr/>
          <p:nvPr/>
        </p:nvSpPr>
        <p:spPr>
          <a:xfrm rot="190706">
            <a:off x="8914948" y="5329344"/>
            <a:ext cx="458105"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1742183" y="5833346"/>
            <a:ext cx="6376737" cy="3873076"/>
            <a:chOff x="0" y="0"/>
            <a:chExt cx="1338216" cy="812800"/>
          </a:xfrm>
        </p:grpSpPr>
        <p:sp>
          <p:nvSpPr>
            <p:cNvPr name="Freeform 8" id="8"/>
            <p:cNvSpPr/>
            <p:nvPr/>
          </p:nvSpPr>
          <p:spPr>
            <a:xfrm flipH="false" flipV="false" rot="0">
              <a:off x="0" y="0"/>
              <a:ext cx="1338216" cy="812800"/>
            </a:xfrm>
            <a:custGeom>
              <a:avLst/>
              <a:gdLst/>
              <a:ahLst/>
              <a:cxnLst/>
              <a:rect r="r" b="b" t="t" l="l"/>
              <a:pathLst>
                <a:path h="812800" w="1338216">
                  <a:moveTo>
                    <a:pt x="0" y="0"/>
                  </a:moveTo>
                  <a:lnTo>
                    <a:pt x="1338216" y="0"/>
                  </a:lnTo>
                  <a:lnTo>
                    <a:pt x="1338216" y="812800"/>
                  </a:lnTo>
                  <a:lnTo>
                    <a:pt x="0" y="812800"/>
                  </a:lnTo>
                  <a:close/>
                </a:path>
              </a:pathLst>
            </a:custGeom>
            <a:blipFill>
              <a:blip r:embed="rId5"/>
              <a:stretch>
                <a:fillRect l="0" t="-1902" r="0" b="-1902"/>
              </a:stretch>
            </a:blipFill>
          </p:spPr>
        </p:sp>
      </p:grpSp>
      <p:sp>
        <p:nvSpPr>
          <p:cNvPr name="TextBox 9" id="9"/>
          <p:cNvSpPr txBox="true"/>
          <p:nvPr/>
        </p:nvSpPr>
        <p:spPr>
          <a:xfrm rot="0">
            <a:off x="8329664" y="4664428"/>
            <a:ext cx="1628676" cy="558433"/>
          </a:xfrm>
          <a:prstGeom prst="rect">
            <a:avLst/>
          </a:prstGeom>
        </p:spPr>
        <p:txBody>
          <a:bodyPr anchor="t" rtlCol="false" tIns="0" lIns="0" bIns="0" rIns="0">
            <a:spAutoFit/>
          </a:bodyPr>
          <a:lstStyle/>
          <a:p>
            <a:pPr algn="ctr">
              <a:lnSpc>
                <a:spcPts val="3359"/>
              </a:lnSpc>
            </a:pPr>
            <a:r>
              <a:rPr lang="en-US" sz="2799" b="true">
                <a:solidFill>
                  <a:srgbClr val="FFFFFF"/>
                </a:solidFill>
                <a:latin typeface="Calibri (MS) Bold"/>
                <a:ea typeface="Calibri (MS) Bold"/>
                <a:cs typeface="Calibri (MS) Bold"/>
                <a:sym typeface="Calibri (MS) Bold"/>
              </a:rPr>
              <a:t>Enter title</a:t>
            </a:r>
          </a:p>
        </p:txBody>
      </p:sp>
      <p:sp>
        <p:nvSpPr>
          <p:cNvPr name="TextBox 10" id="10"/>
          <p:cNvSpPr txBox="true"/>
          <p:nvPr/>
        </p:nvSpPr>
        <p:spPr>
          <a:xfrm rot="0">
            <a:off x="1742183" y="2267983"/>
            <a:ext cx="14803639" cy="3565363"/>
          </a:xfrm>
          <a:prstGeom prst="rect">
            <a:avLst/>
          </a:prstGeom>
        </p:spPr>
        <p:txBody>
          <a:bodyPr anchor="t" rtlCol="false" tIns="0" lIns="0" bIns="0" rIns="0">
            <a:spAutoFit/>
          </a:bodyPr>
          <a:lstStyle/>
          <a:p>
            <a:pPr algn="l">
              <a:lnSpc>
                <a:spcPts val="4759"/>
              </a:lnSpc>
            </a:pPr>
            <a:r>
              <a:rPr lang="en-US" sz="2799" b="true">
                <a:solidFill>
                  <a:srgbClr val="262828"/>
                </a:solidFill>
                <a:latin typeface="Public Sans Bold"/>
                <a:ea typeface="Public Sans Bold"/>
                <a:cs typeface="Public Sans Bold"/>
                <a:sym typeface="Public Sans Bold"/>
              </a:rPr>
              <a:t>Thử thách: </a:t>
            </a:r>
          </a:p>
          <a:p>
            <a:pPr algn="l" marL="604518" indent="-302259" lvl="1">
              <a:lnSpc>
                <a:spcPts val="4759"/>
              </a:lnSpc>
              <a:buFont typeface="Arial"/>
              <a:buChar char="•"/>
            </a:pPr>
            <a:r>
              <a:rPr lang="en-US" sz="2799">
                <a:solidFill>
                  <a:srgbClr val="262828"/>
                </a:solidFill>
                <a:latin typeface="Public Sans"/>
                <a:ea typeface="Public Sans"/>
                <a:cs typeface="Public Sans"/>
                <a:sym typeface="Public Sans"/>
              </a:rPr>
              <a:t>Dữ liệu chứa nhiều giá trị bị thiếu (missing value)</a:t>
            </a:r>
          </a:p>
          <a:p>
            <a:pPr algn="l" marL="604518" indent="-302259" lvl="1">
              <a:lnSpc>
                <a:spcPts val="4759"/>
              </a:lnSpc>
              <a:buFont typeface="Arial"/>
              <a:buChar char="•"/>
            </a:pPr>
            <a:r>
              <a:rPr lang="en-US" sz="2799">
                <a:solidFill>
                  <a:srgbClr val="262828"/>
                </a:solidFill>
                <a:latin typeface="Public Sans"/>
                <a:ea typeface="Public Sans"/>
                <a:cs typeface="Public Sans"/>
                <a:sym typeface="Public Sans"/>
              </a:rPr>
              <a:t>Tính không cân bằng giữa số người sống só</a:t>
            </a:r>
            <a:r>
              <a:rPr lang="en-US" sz="2799">
                <a:solidFill>
                  <a:srgbClr val="262828"/>
                </a:solidFill>
                <a:latin typeface="Public Sans"/>
                <a:ea typeface="Public Sans"/>
                <a:cs typeface="Public Sans"/>
                <a:sym typeface="Public Sans"/>
              </a:rPr>
              <a:t>t và tử vong</a:t>
            </a:r>
          </a:p>
          <a:p>
            <a:pPr algn="l" marL="604518" indent="-302259" lvl="1">
              <a:lnSpc>
                <a:spcPts val="4759"/>
              </a:lnSpc>
              <a:buFont typeface="Arial"/>
              <a:buChar char="•"/>
            </a:pPr>
            <a:r>
              <a:rPr lang="en-US" sz="2799">
                <a:solidFill>
                  <a:srgbClr val="262828"/>
                </a:solidFill>
                <a:latin typeface="Public Sans"/>
                <a:ea typeface="Public Sans"/>
                <a:cs typeface="Public Sans"/>
                <a:sym typeface="Public Sans"/>
              </a:rPr>
              <a:t>Nhiều biến định tính cần xử lý (Sex, PClass, Embarked, …)</a:t>
            </a:r>
          </a:p>
          <a:p>
            <a:pPr algn="l" marL="604518" indent="-302259" lvl="1">
              <a:lnSpc>
                <a:spcPts val="4759"/>
              </a:lnSpc>
              <a:buFont typeface="Arial"/>
              <a:buChar char="•"/>
            </a:pPr>
            <a:r>
              <a:rPr lang="en-US" sz="2799">
                <a:solidFill>
                  <a:srgbClr val="262828"/>
                </a:solidFill>
                <a:latin typeface="Public Sans"/>
                <a:ea typeface="Public Sans"/>
                <a:cs typeface="Public Sans"/>
                <a:sym typeface="Public Sans"/>
              </a:rPr>
              <a:t>Mô hình dữ liệu nhỏ dễ dẫn đến overfitting </a:t>
            </a:r>
          </a:p>
          <a:p>
            <a:pPr algn="l" marL="0" indent="0" lvl="0">
              <a:lnSpc>
                <a:spcPts val="4759"/>
              </a:lnSpc>
            </a:pPr>
          </a:p>
        </p:txBody>
      </p:sp>
      <p:grpSp>
        <p:nvGrpSpPr>
          <p:cNvPr name="Group 11" id="11"/>
          <p:cNvGrpSpPr/>
          <p:nvPr/>
        </p:nvGrpSpPr>
        <p:grpSpPr>
          <a:xfrm rot="0">
            <a:off x="9749111" y="5632197"/>
            <a:ext cx="6661269" cy="1862714"/>
            <a:chOff x="0" y="0"/>
            <a:chExt cx="2906662" cy="812800"/>
          </a:xfrm>
        </p:grpSpPr>
        <p:sp>
          <p:nvSpPr>
            <p:cNvPr name="Freeform 12" id="12"/>
            <p:cNvSpPr/>
            <p:nvPr/>
          </p:nvSpPr>
          <p:spPr>
            <a:xfrm flipH="false" flipV="false" rot="0">
              <a:off x="0" y="0"/>
              <a:ext cx="2906662" cy="812800"/>
            </a:xfrm>
            <a:custGeom>
              <a:avLst/>
              <a:gdLst/>
              <a:ahLst/>
              <a:cxnLst/>
              <a:rect r="r" b="b" t="t" l="l"/>
              <a:pathLst>
                <a:path h="812800" w="2906662">
                  <a:moveTo>
                    <a:pt x="0" y="0"/>
                  </a:moveTo>
                  <a:lnTo>
                    <a:pt x="2906662" y="0"/>
                  </a:lnTo>
                  <a:lnTo>
                    <a:pt x="2906662" y="812800"/>
                  </a:lnTo>
                  <a:lnTo>
                    <a:pt x="0" y="812800"/>
                  </a:lnTo>
                  <a:close/>
                </a:path>
              </a:pathLst>
            </a:custGeom>
            <a:blipFill>
              <a:blip r:embed="rId6"/>
              <a:stretch>
                <a:fillRect l="0" t="-306" r="0" b="-306"/>
              </a:stretch>
            </a:blipFill>
          </p:spPr>
        </p:sp>
      </p:grpSp>
      <p:grpSp>
        <p:nvGrpSpPr>
          <p:cNvPr name="Group 13" id="13"/>
          <p:cNvGrpSpPr/>
          <p:nvPr/>
        </p:nvGrpSpPr>
        <p:grpSpPr>
          <a:xfrm rot="0">
            <a:off x="9749111" y="7904247"/>
            <a:ext cx="6661269" cy="1937771"/>
            <a:chOff x="0" y="0"/>
            <a:chExt cx="2794075" cy="812800"/>
          </a:xfrm>
        </p:grpSpPr>
        <p:sp>
          <p:nvSpPr>
            <p:cNvPr name="Freeform 14" id="14"/>
            <p:cNvSpPr/>
            <p:nvPr/>
          </p:nvSpPr>
          <p:spPr>
            <a:xfrm flipH="false" flipV="false" rot="0">
              <a:off x="0" y="0"/>
              <a:ext cx="2794075" cy="812800"/>
            </a:xfrm>
            <a:custGeom>
              <a:avLst/>
              <a:gdLst/>
              <a:ahLst/>
              <a:cxnLst/>
              <a:rect r="r" b="b" t="t" l="l"/>
              <a:pathLst>
                <a:path h="812800" w="2794075">
                  <a:moveTo>
                    <a:pt x="0" y="0"/>
                  </a:moveTo>
                  <a:lnTo>
                    <a:pt x="2794075" y="0"/>
                  </a:lnTo>
                  <a:lnTo>
                    <a:pt x="2794075" y="812800"/>
                  </a:lnTo>
                  <a:lnTo>
                    <a:pt x="0" y="812800"/>
                  </a:lnTo>
                  <a:close/>
                </a:path>
              </a:pathLst>
            </a:custGeom>
            <a:blipFill>
              <a:blip r:embed="rId7"/>
              <a:stretch>
                <a:fillRect l="-4262" t="0" r="-4262" b="-24353"/>
              </a:stretch>
            </a:blipFill>
          </p:spPr>
        </p:sp>
      </p:grpSp>
      <p:sp>
        <p:nvSpPr>
          <p:cNvPr name="TextBox 15" id="15"/>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1. Introduction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2. Related Work </a:t>
            </a:r>
          </a:p>
        </p:txBody>
      </p:sp>
      <p:sp>
        <p:nvSpPr>
          <p:cNvPr name="TextBox 5" id="5"/>
          <p:cNvSpPr txBox="true"/>
          <p:nvPr/>
        </p:nvSpPr>
        <p:spPr>
          <a:xfrm rot="0">
            <a:off x="1028700" y="1840094"/>
            <a:ext cx="15855020" cy="5193304"/>
          </a:xfrm>
          <a:prstGeom prst="rect">
            <a:avLst/>
          </a:prstGeom>
        </p:spPr>
        <p:txBody>
          <a:bodyPr anchor="t" rtlCol="false" tIns="0" lIns="0" bIns="0" rIns="0">
            <a:spAutoFit/>
          </a:bodyPr>
          <a:lstStyle/>
          <a:p>
            <a:pPr algn="l">
              <a:lnSpc>
                <a:spcPts val="5124"/>
              </a:lnSpc>
              <a:spcBef>
                <a:spcPct val="0"/>
              </a:spcBef>
            </a:pPr>
            <a:r>
              <a:rPr lang="en-US" b="true" sz="2847">
                <a:solidFill>
                  <a:srgbClr val="000000"/>
                </a:solidFill>
                <a:latin typeface="Calibri (MS) Bold"/>
                <a:ea typeface="Calibri (MS) Bold"/>
                <a:cs typeface="Calibri (MS) Bold"/>
                <a:sym typeface="Calibri (MS) Bold"/>
              </a:rPr>
              <a:t>Classical Models:</a:t>
            </a:r>
          </a:p>
          <a:p>
            <a:pPr algn="l" marL="614672" indent="-307336" lvl="1">
              <a:lnSpc>
                <a:spcPts val="5124"/>
              </a:lnSpc>
              <a:buFont typeface="Arial"/>
              <a:buChar char="•"/>
            </a:pPr>
            <a:r>
              <a:rPr lang="en-US" sz="2847">
                <a:solidFill>
                  <a:srgbClr val="000000"/>
                </a:solidFill>
                <a:latin typeface="Calibri (MS)"/>
                <a:ea typeface="Calibri (MS)"/>
                <a:cs typeface="Calibri (MS)"/>
                <a:sym typeface="Calibri (MS)"/>
              </a:rPr>
              <a:t>Logistic Regression – mô hình tuyến tính cơ bản cho bài toán nhị phân</a:t>
            </a:r>
          </a:p>
          <a:p>
            <a:pPr algn="l">
              <a:lnSpc>
                <a:spcPts val="5124"/>
              </a:lnSpc>
            </a:pPr>
            <a:r>
              <a:rPr lang="en-US" b="true" sz="2847">
                <a:solidFill>
                  <a:srgbClr val="000000"/>
                </a:solidFill>
                <a:latin typeface="Calibri (MS) Bold"/>
                <a:ea typeface="Calibri (MS) Bold"/>
                <a:cs typeface="Calibri (MS) Bold"/>
                <a:sym typeface="Calibri (MS) Bold"/>
              </a:rPr>
              <a:t>Ensemble Methods:</a:t>
            </a:r>
          </a:p>
          <a:p>
            <a:pPr algn="l" marL="614672" indent="-307336" lvl="1">
              <a:lnSpc>
                <a:spcPts val="5124"/>
              </a:lnSpc>
              <a:buFont typeface="Arial"/>
              <a:buChar char="•"/>
            </a:pPr>
            <a:r>
              <a:rPr lang="en-US" sz="2847">
                <a:solidFill>
                  <a:srgbClr val="000000"/>
                </a:solidFill>
                <a:latin typeface="Calibri (MS)"/>
                <a:ea typeface="Calibri (MS)"/>
                <a:cs typeface="Calibri (MS)"/>
                <a:sym typeface="Calibri (MS)"/>
              </a:rPr>
              <a:t>Random Forest, Gradient Boosting (XGBoost) – cải thiện độ chính xác nhờ kết hợp nhiều cây quyết định</a:t>
            </a:r>
          </a:p>
          <a:p>
            <a:pPr algn="l" marL="614672" indent="-307336" lvl="1">
              <a:lnSpc>
                <a:spcPts val="5124"/>
              </a:lnSpc>
              <a:buFont typeface="Arial"/>
              <a:buChar char="•"/>
            </a:pPr>
            <a:r>
              <a:rPr lang="en-US" sz="2847">
                <a:solidFill>
                  <a:srgbClr val="000000"/>
                </a:solidFill>
                <a:latin typeface="Calibri (MS)"/>
                <a:ea typeface="Calibri (MS)"/>
                <a:cs typeface="Calibri (MS)"/>
                <a:sym typeface="Calibri (MS)"/>
              </a:rPr>
              <a:t>Các mô hình này đã được chứng minh hiệu quả trong Titanic Dataset trên Kaggle</a:t>
            </a:r>
          </a:p>
          <a:p>
            <a:pPr algn="l">
              <a:lnSpc>
                <a:spcPts val="5124"/>
              </a:lnSpc>
              <a:spcBef>
                <a:spcPct val="0"/>
              </a:spcBef>
            </a:pPr>
            <a:r>
              <a:rPr lang="en-US" b="true" sz="2847">
                <a:solidFill>
                  <a:srgbClr val="000000"/>
                </a:solidFill>
                <a:latin typeface="Calibri (MS) Bold"/>
                <a:ea typeface="Calibri (MS) Bold"/>
                <a:cs typeface="Calibri (MS) Bold"/>
                <a:sym typeface="Calibri (MS) Bold"/>
              </a:rPr>
              <a:t>Feature Engineering Approaches:</a:t>
            </a:r>
          </a:p>
          <a:p>
            <a:pPr algn="l" marL="614672" indent="-307336" lvl="1">
              <a:lnSpc>
                <a:spcPts val="5124"/>
              </a:lnSpc>
              <a:buFont typeface="Arial"/>
              <a:buChar char="•"/>
            </a:pPr>
            <a:r>
              <a:rPr lang="en-US" sz="2847">
                <a:solidFill>
                  <a:srgbClr val="000000"/>
                </a:solidFill>
                <a:latin typeface="Calibri (MS)"/>
                <a:ea typeface="Calibri (MS)"/>
                <a:cs typeface="Calibri (MS)"/>
                <a:sym typeface="Calibri (MS)"/>
              </a:rPr>
              <a:t>Tạo đặc trưng mới từ các cột như FamilySize, Title, Deck</a:t>
            </a:r>
          </a:p>
          <a:p>
            <a:pPr algn="l" marL="614672" indent="-307336" lvl="1">
              <a:lnSpc>
                <a:spcPts val="5124"/>
              </a:lnSpc>
              <a:buFont typeface="Arial"/>
              <a:buChar char="•"/>
            </a:pPr>
            <a:r>
              <a:rPr lang="en-US" sz="2847">
                <a:solidFill>
                  <a:srgbClr val="000000"/>
                </a:solidFill>
                <a:latin typeface="Calibri (MS)"/>
                <a:ea typeface="Calibri (MS)"/>
                <a:cs typeface="Calibri (MS)"/>
                <a:sym typeface="Calibri (MS)"/>
              </a:rPr>
              <a:t>Xử lý dữ liệu bị thiếu bằng trung vị, mode, hoặc dự đoán bằng mô hình phụ trợ</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9849" y="-11984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28700" y="3591870"/>
            <a:ext cx="1993528" cy="1108596"/>
            <a:chOff x="0" y="0"/>
            <a:chExt cx="525044" cy="291976"/>
          </a:xfrm>
        </p:grpSpPr>
        <p:sp>
          <p:nvSpPr>
            <p:cNvPr name="Freeform 5" id="5"/>
            <p:cNvSpPr/>
            <p:nvPr/>
          </p:nvSpPr>
          <p:spPr>
            <a:xfrm flipH="false" flipV="false" rot="0">
              <a:off x="0" y="0"/>
              <a:ext cx="525044" cy="291976"/>
            </a:xfrm>
            <a:custGeom>
              <a:avLst/>
              <a:gdLst/>
              <a:ahLst/>
              <a:cxnLst/>
              <a:rect r="r" b="b" t="t" l="l"/>
              <a:pathLst>
                <a:path h="291976" w="525044">
                  <a:moveTo>
                    <a:pt x="145988" y="0"/>
                  </a:moveTo>
                  <a:lnTo>
                    <a:pt x="379057" y="0"/>
                  </a:lnTo>
                  <a:cubicBezTo>
                    <a:pt x="417775" y="0"/>
                    <a:pt x="454908" y="15381"/>
                    <a:pt x="482286" y="42759"/>
                  </a:cubicBezTo>
                  <a:cubicBezTo>
                    <a:pt x="509664" y="70137"/>
                    <a:pt x="525044" y="107269"/>
                    <a:pt x="525044" y="145988"/>
                  </a:cubicBezTo>
                  <a:lnTo>
                    <a:pt x="525044" y="145988"/>
                  </a:lnTo>
                  <a:cubicBezTo>
                    <a:pt x="525044" y="226615"/>
                    <a:pt x="459683" y="291976"/>
                    <a:pt x="379057" y="291976"/>
                  </a:cubicBezTo>
                  <a:lnTo>
                    <a:pt x="145988" y="291976"/>
                  </a:lnTo>
                  <a:cubicBezTo>
                    <a:pt x="65361" y="291976"/>
                    <a:pt x="0" y="226615"/>
                    <a:pt x="0" y="145988"/>
                  </a:cubicBezTo>
                  <a:lnTo>
                    <a:pt x="0" y="145988"/>
                  </a:lnTo>
                  <a:cubicBezTo>
                    <a:pt x="0" y="65361"/>
                    <a:pt x="65361" y="0"/>
                    <a:pt x="145988" y="0"/>
                  </a:cubicBezTo>
                  <a:close/>
                </a:path>
              </a:pathLst>
            </a:custGeom>
            <a:solidFill>
              <a:srgbClr val="4E7FC9"/>
            </a:solidFill>
          </p:spPr>
        </p:sp>
        <p:sp>
          <p:nvSpPr>
            <p:cNvPr name="TextBox 6" id="6"/>
            <p:cNvSpPr txBox="true"/>
            <p:nvPr/>
          </p:nvSpPr>
          <p:spPr>
            <a:xfrm>
              <a:off x="0" y="-228600"/>
              <a:ext cx="525044" cy="520576"/>
            </a:xfrm>
            <a:prstGeom prst="rect">
              <a:avLst/>
            </a:prstGeom>
          </p:spPr>
          <p:txBody>
            <a:bodyPr anchor="ctr" rtlCol="false" tIns="50800" lIns="50800" bIns="50800" rIns="50800"/>
            <a:lstStyle/>
            <a:p>
              <a:pPr algn="ctr">
                <a:lnSpc>
                  <a:spcPts val="5219"/>
                </a:lnSpc>
              </a:pPr>
              <a:r>
                <a:rPr lang="en-US" sz="2899">
                  <a:solidFill>
                    <a:srgbClr val="FFFFFF"/>
                  </a:solidFill>
                  <a:latin typeface="Calibri (MS)"/>
                  <a:ea typeface="Calibri (MS)"/>
                  <a:cs typeface="Calibri (MS)"/>
                  <a:sym typeface="Calibri (MS)"/>
                </a:rPr>
                <a:t>Data input</a:t>
              </a:r>
            </a:p>
          </p:txBody>
        </p:sp>
      </p:grpSp>
      <p:grpSp>
        <p:nvGrpSpPr>
          <p:cNvPr name="Group 7" id="7"/>
          <p:cNvGrpSpPr/>
          <p:nvPr/>
        </p:nvGrpSpPr>
        <p:grpSpPr>
          <a:xfrm rot="0">
            <a:off x="3156868" y="6076923"/>
            <a:ext cx="2197337" cy="1183456"/>
            <a:chOff x="0" y="0"/>
            <a:chExt cx="578723" cy="311692"/>
          </a:xfrm>
        </p:grpSpPr>
        <p:sp>
          <p:nvSpPr>
            <p:cNvPr name="Freeform 8" id="8"/>
            <p:cNvSpPr/>
            <p:nvPr/>
          </p:nvSpPr>
          <p:spPr>
            <a:xfrm flipH="false" flipV="false" rot="0">
              <a:off x="0" y="0"/>
              <a:ext cx="578723" cy="311692"/>
            </a:xfrm>
            <a:custGeom>
              <a:avLst/>
              <a:gdLst/>
              <a:ahLst/>
              <a:cxnLst/>
              <a:rect r="r" b="b" t="t" l="l"/>
              <a:pathLst>
                <a:path h="311692" w="578723">
                  <a:moveTo>
                    <a:pt x="155846" y="0"/>
                  </a:moveTo>
                  <a:lnTo>
                    <a:pt x="422877" y="0"/>
                  </a:lnTo>
                  <a:cubicBezTo>
                    <a:pt x="464209" y="0"/>
                    <a:pt x="503850" y="16419"/>
                    <a:pt x="533076" y="45646"/>
                  </a:cubicBezTo>
                  <a:cubicBezTo>
                    <a:pt x="562303" y="74873"/>
                    <a:pt x="578723" y="114513"/>
                    <a:pt x="578723" y="155846"/>
                  </a:cubicBezTo>
                  <a:lnTo>
                    <a:pt x="578723" y="155846"/>
                  </a:lnTo>
                  <a:cubicBezTo>
                    <a:pt x="578723" y="197179"/>
                    <a:pt x="562303" y="236819"/>
                    <a:pt x="533076" y="266046"/>
                  </a:cubicBezTo>
                  <a:cubicBezTo>
                    <a:pt x="503850" y="295273"/>
                    <a:pt x="464209" y="311692"/>
                    <a:pt x="422877" y="311692"/>
                  </a:cubicBezTo>
                  <a:lnTo>
                    <a:pt x="155846" y="311692"/>
                  </a:lnTo>
                  <a:cubicBezTo>
                    <a:pt x="114513" y="311692"/>
                    <a:pt x="74873" y="295273"/>
                    <a:pt x="45646" y="266046"/>
                  </a:cubicBezTo>
                  <a:cubicBezTo>
                    <a:pt x="16419" y="236819"/>
                    <a:pt x="0" y="197179"/>
                    <a:pt x="0" y="155846"/>
                  </a:cubicBezTo>
                  <a:lnTo>
                    <a:pt x="0" y="155846"/>
                  </a:lnTo>
                  <a:cubicBezTo>
                    <a:pt x="0" y="114513"/>
                    <a:pt x="16419" y="74873"/>
                    <a:pt x="45646" y="45646"/>
                  </a:cubicBezTo>
                  <a:cubicBezTo>
                    <a:pt x="74873" y="16419"/>
                    <a:pt x="114513" y="0"/>
                    <a:pt x="155846" y="0"/>
                  </a:cubicBezTo>
                  <a:close/>
                </a:path>
              </a:pathLst>
            </a:custGeom>
            <a:solidFill>
              <a:srgbClr val="4E7FC9"/>
            </a:solidFill>
          </p:spPr>
        </p:sp>
        <p:sp>
          <p:nvSpPr>
            <p:cNvPr name="TextBox 9" id="9"/>
            <p:cNvSpPr txBox="true"/>
            <p:nvPr/>
          </p:nvSpPr>
          <p:spPr>
            <a:xfrm>
              <a:off x="0" y="-57150"/>
              <a:ext cx="578723" cy="368842"/>
            </a:xfrm>
            <a:prstGeom prst="rect">
              <a:avLst/>
            </a:prstGeom>
          </p:spPr>
          <p:txBody>
            <a:bodyPr anchor="ctr" rtlCol="false" tIns="50800" lIns="50800" bIns="50800" rIns="50800"/>
            <a:lstStyle/>
            <a:p>
              <a:pPr algn="ctr">
                <a:lnSpc>
                  <a:spcPts val="3479"/>
                </a:lnSpc>
              </a:pPr>
              <a:r>
                <a:rPr lang="en-US" sz="2899">
                  <a:solidFill>
                    <a:srgbClr val="FFFFFF"/>
                  </a:solidFill>
                  <a:latin typeface="Calibri (MS)"/>
                  <a:ea typeface="Calibri (MS)"/>
                  <a:cs typeface="Calibri (MS)"/>
                  <a:sym typeface="Calibri (MS)"/>
                </a:rPr>
                <a:t>Exploratory Data Analysis</a:t>
              </a:r>
            </a:p>
          </p:txBody>
        </p:sp>
      </p:grpSp>
      <p:sp>
        <p:nvSpPr>
          <p:cNvPr name="TextBox 10" id="10"/>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sp>
        <p:nvSpPr>
          <p:cNvPr name="TextBox 11" id="11"/>
          <p:cNvSpPr txBox="true"/>
          <p:nvPr/>
        </p:nvSpPr>
        <p:spPr>
          <a:xfrm rot="0">
            <a:off x="1028700" y="2033107"/>
            <a:ext cx="3052735" cy="670508"/>
          </a:xfrm>
          <a:prstGeom prst="rect">
            <a:avLst/>
          </a:prstGeom>
        </p:spPr>
        <p:txBody>
          <a:bodyPr anchor="t" rtlCol="false" tIns="0" lIns="0" bIns="0" rIns="0">
            <a:spAutoFit/>
          </a:bodyPr>
          <a:lstStyle/>
          <a:p>
            <a:pPr algn="l">
              <a:lnSpc>
                <a:spcPts val="5759"/>
              </a:lnSpc>
              <a:spcBef>
                <a:spcPct val="0"/>
              </a:spcBef>
            </a:pPr>
            <a:r>
              <a:rPr lang="en-US" b="true" sz="3199">
                <a:solidFill>
                  <a:srgbClr val="000000"/>
                </a:solidFill>
                <a:latin typeface="Public Sans Bold"/>
                <a:ea typeface="Public Sans Bold"/>
                <a:cs typeface="Public Sans Bold"/>
                <a:sym typeface="Public Sans Bold"/>
              </a:rPr>
              <a:t>Quá trình chính:</a:t>
            </a:r>
          </a:p>
        </p:txBody>
      </p:sp>
      <p:grpSp>
        <p:nvGrpSpPr>
          <p:cNvPr name="Group 12" id="12"/>
          <p:cNvGrpSpPr/>
          <p:nvPr/>
        </p:nvGrpSpPr>
        <p:grpSpPr>
          <a:xfrm rot="0">
            <a:off x="5183977" y="3022887"/>
            <a:ext cx="2697872" cy="1533455"/>
            <a:chOff x="0" y="0"/>
            <a:chExt cx="710551" cy="403873"/>
          </a:xfrm>
        </p:grpSpPr>
        <p:sp>
          <p:nvSpPr>
            <p:cNvPr name="Freeform 13" id="13"/>
            <p:cNvSpPr/>
            <p:nvPr/>
          </p:nvSpPr>
          <p:spPr>
            <a:xfrm flipH="false" flipV="false" rot="0">
              <a:off x="0" y="0"/>
              <a:ext cx="710551" cy="403873"/>
            </a:xfrm>
            <a:custGeom>
              <a:avLst/>
              <a:gdLst/>
              <a:ahLst/>
              <a:cxnLst/>
              <a:rect r="r" b="b" t="t" l="l"/>
              <a:pathLst>
                <a:path h="403873" w="710551">
                  <a:moveTo>
                    <a:pt x="146352" y="0"/>
                  </a:moveTo>
                  <a:lnTo>
                    <a:pt x="564199" y="0"/>
                  </a:lnTo>
                  <a:cubicBezTo>
                    <a:pt x="603014" y="0"/>
                    <a:pt x="640239" y="15419"/>
                    <a:pt x="667685" y="42865"/>
                  </a:cubicBezTo>
                  <a:cubicBezTo>
                    <a:pt x="695132" y="70312"/>
                    <a:pt x="710551" y="107537"/>
                    <a:pt x="710551" y="146352"/>
                  </a:cubicBezTo>
                  <a:lnTo>
                    <a:pt x="710551" y="257521"/>
                  </a:lnTo>
                  <a:cubicBezTo>
                    <a:pt x="710551" y="338349"/>
                    <a:pt x="645027" y="403873"/>
                    <a:pt x="564199" y="403873"/>
                  </a:cubicBezTo>
                  <a:lnTo>
                    <a:pt x="146352" y="403873"/>
                  </a:lnTo>
                  <a:cubicBezTo>
                    <a:pt x="107537" y="403873"/>
                    <a:pt x="70312" y="388454"/>
                    <a:pt x="42865" y="361007"/>
                  </a:cubicBezTo>
                  <a:cubicBezTo>
                    <a:pt x="15419" y="333561"/>
                    <a:pt x="0" y="296336"/>
                    <a:pt x="0" y="257521"/>
                  </a:cubicBezTo>
                  <a:lnTo>
                    <a:pt x="0" y="146352"/>
                  </a:lnTo>
                  <a:cubicBezTo>
                    <a:pt x="0" y="107537"/>
                    <a:pt x="15419" y="70312"/>
                    <a:pt x="42865" y="42865"/>
                  </a:cubicBezTo>
                  <a:cubicBezTo>
                    <a:pt x="70312" y="15419"/>
                    <a:pt x="107537" y="0"/>
                    <a:pt x="146352" y="0"/>
                  </a:cubicBezTo>
                  <a:close/>
                </a:path>
              </a:pathLst>
            </a:custGeom>
            <a:solidFill>
              <a:srgbClr val="4E7FC9"/>
            </a:solidFill>
          </p:spPr>
        </p:sp>
        <p:sp>
          <p:nvSpPr>
            <p:cNvPr name="TextBox 14" id="14"/>
            <p:cNvSpPr txBox="true"/>
            <p:nvPr/>
          </p:nvSpPr>
          <p:spPr>
            <a:xfrm>
              <a:off x="0" y="-57150"/>
              <a:ext cx="710551" cy="461023"/>
            </a:xfrm>
            <a:prstGeom prst="rect">
              <a:avLst/>
            </a:prstGeom>
          </p:spPr>
          <p:txBody>
            <a:bodyPr anchor="ctr" rtlCol="false" tIns="50800" lIns="50800" bIns="50800" rIns="50800"/>
            <a:lstStyle/>
            <a:p>
              <a:pPr algn="ctr">
                <a:lnSpc>
                  <a:spcPts val="3479"/>
                </a:lnSpc>
              </a:pPr>
              <a:r>
                <a:rPr lang="en-US" sz="2899">
                  <a:solidFill>
                    <a:srgbClr val="FFFFFF"/>
                  </a:solidFill>
                  <a:latin typeface="Calibri (MS)"/>
                  <a:ea typeface="Calibri (MS)"/>
                  <a:cs typeface="Calibri (MS)"/>
                  <a:sym typeface="Calibri (MS)"/>
                </a:rPr>
                <a:t>Pre-proccessing &amp; Feature Engineering</a:t>
              </a:r>
            </a:p>
          </p:txBody>
        </p:sp>
      </p:grpSp>
      <p:grpSp>
        <p:nvGrpSpPr>
          <p:cNvPr name="Group 15" id="15"/>
          <p:cNvGrpSpPr/>
          <p:nvPr/>
        </p:nvGrpSpPr>
        <p:grpSpPr>
          <a:xfrm rot="0">
            <a:off x="8725632" y="5023651"/>
            <a:ext cx="2868922" cy="987029"/>
            <a:chOff x="0" y="0"/>
            <a:chExt cx="755601" cy="259958"/>
          </a:xfrm>
        </p:grpSpPr>
        <p:sp>
          <p:nvSpPr>
            <p:cNvPr name="Freeform 16" id="16"/>
            <p:cNvSpPr/>
            <p:nvPr/>
          </p:nvSpPr>
          <p:spPr>
            <a:xfrm flipH="false" flipV="false" rot="0">
              <a:off x="0" y="0"/>
              <a:ext cx="755601" cy="259958"/>
            </a:xfrm>
            <a:custGeom>
              <a:avLst/>
              <a:gdLst/>
              <a:ahLst/>
              <a:cxnLst/>
              <a:rect r="r" b="b" t="t" l="l"/>
              <a:pathLst>
                <a:path h="259958" w="755601">
                  <a:moveTo>
                    <a:pt x="129979" y="0"/>
                  </a:moveTo>
                  <a:lnTo>
                    <a:pt x="625622" y="0"/>
                  </a:lnTo>
                  <a:cubicBezTo>
                    <a:pt x="660094" y="0"/>
                    <a:pt x="693155" y="13694"/>
                    <a:pt x="717531" y="38070"/>
                  </a:cubicBezTo>
                  <a:cubicBezTo>
                    <a:pt x="741907" y="62446"/>
                    <a:pt x="755601" y="95507"/>
                    <a:pt x="755601" y="129979"/>
                  </a:cubicBezTo>
                  <a:lnTo>
                    <a:pt x="755601" y="129979"/>
                  </a:lnTo>
                  <a:cubicBezTo>
                    <a:pt x="755601" y="164452"/>
                    <a:pt x="741907" y="197512"/>
                    <a:pt x="717531" y="221888"/>
                  </a:cubicBezTo>
                  <a:cubicBezTo>
                    <a:pt x="693155" y="246264"/>
                    <a:pt x="660094" y="259958"/>
                    <a:pt x="625622" y="259958"/>
                  </a:cubicBezTo>
                  <a:lnTo>
                    <a:pt x="129979" y="259958"/>
                  </a:lnTo>
                  <a:cubicBezTo>
                    <a:pt x="95507" y="259958"/>
                    <a:pt x="62446" y="246264"/>
                    <a:pt x="38070" y="221888"/>
                  </a:cubicBezTo>
                  <a:cubicBezTo>
                    <a:pt x="13694" y="197512"/>
                    <a:pt x="0" y="164452"/>
                    <a:pt x="0" y="129979"/>
                  </a:cubicBezTo>
                  <a:lnTo>
                    <a:pt x="0" y="129979"/>
                  </a:lnTo>
                  <a:cubicBezTo>
                    <a:pt x="0" y="95507"/>
                    <a:pt x="13694" y="62446"/>
                    <a:pt x="38070" y="38070"/>
                  </a:cubicBezTo>
                  <a:cubicBezTo>
                    <a:pt x="62446" y="13694"/>
                    <a:pt x="95507" y="0"/>
                    <a:pt x="129979" y="0"/>
                  </a:cubicBezTo>
                  <a:close/>
                </a:path>
              </a:pathLst>
            </a:custGeom>
            <a:solidFill>
              <a:srgbClr val="4E7FC9"/>
            </a:solidFill>
          </p:spPr>
        </p:sp>
        <p:sp>
          <p:nvSpPr>
            <p:cNvPr name="TextBox 17" id="17"/>
            <p:cNvSpPr txBox="true"/>
            <p:nvPr/>
          </p:nvSpPr>
          <p:spPr>
            <a:xfrm>
              <a:off x="0" y="-57150"/>
              <a:ext cx="755601" cy="317108"/>
            </a:xfrm>
            <a:prstGeom prst="rect">
              <a:avLst/>
            </a:prstGeom>
          </p:spPr>
          <p:txBody>
            <a:bodyPr anchor="ctr" rtlCol="false" tIns="50800" lIns="50800" bIns="50800" rIns="50800"/>
            <a:lstStyle/>
            <a:p>
              <a:pPr algn="ctr">
                <a:lnSpc>
                  <a:spcPts val="3479"/>
                </a:lnSpc>
              </a:pPr>
              <a:r>
                <a:rPr lang="en-US" sz="2899">
                  <a:solidFill>
                    <a:srgbClr val="FFFFFF"/>
                  </a:solidFill>
                  <a:latin typeface="Calibri (MS)"/>
                  <a:ea typeface="Calibri (MS)"/>
                  <a:cs typeface="Calibri (MS)"/>
                  <a:sym typeface="Calibri (MS)"/>
                </a:rPr>
                <a:t>Model training</a:t>
              </a:r>
            </a:p>
          </p:txBody>
        </p:sp>
      </p:grpSp>
      <p:grpSp>
        <p:nvGrpSpPr>
          <p:cNvPr name="Group 18" id="18"/>
          <p:cNvGrpSpPr/>
          <p:nvPr/>
        </p:nvGrpSpPr>
        <p:grpSpPr>
          <a:xfrm rot="0">
            <a:off x="12689683" y="6224172"/>
            <a:ext cx="2052910" cy="1174316"/>
            <a:chOff x="0" y="0"/>
            <a:chExt cx="540684" cy="309285"/>
          </a:xfrm>
        </p:grpSpPr>
        <p:sp>
          <p:nvSpPr>
            <p:cNvPr name="Freeform 19" id="19"/>
            <p:cNvSpPr/>
            <p:nvPr/>
          </p:nvSpPr>
          <p:spPr>
            <a:xfrm flipH="false" flipV="false" rot="0">
              <a:off x="0" y="0"/>
              <a:ext cx="540684" cy="309285"/>
            </a:xfrm>
            <a:custGeom>
              <a:avLst/>
              <a:gdLst/>
              <a:ahLst/>
              <a:cxnLst/>
              <a:rect r="r" b="b" t="t" l="l"/>
              <a:pathLst>
                <a:path h="309285" w="540684">
                  <a:moveTo>
                    <a:pt x="154642" y="0"/>
                  </a:moveTo>
                  <a:lnTo>
                    <a:pt x="386042" y="0"/>
                  </a:lnTo>
                  <a:cubicBezTo>
                    <a:pt x="471448" y="0"/>
                    <a:pt x="540684" y="69236"/>
                    <a:pt x="540684" y="154642"/>
                  </a:cubicBezTo>
                  <a:lnTo>
                    <a:pt x="540684" y="154642"/>
                  </a:lnTo>
                  <a:cubicBezTo>
                    <a:pt x="540684" y="240049"/>
                    <a:pt x="471448" y="309285"/>
                    <a:pt x="386042" y="309285"/>
                  </a:cubicBezTo>
                  <a:lnTo>
                    <a:pt x="154642" y="309285"/>
                  </a:lnTo>
                  <a:cubicBezTo>
                    <a:pt x="69236" y="309285"/>
                    <a:pt x="0" y="240049"/>
                    <a:pt x="0" y="154642"/>
                  </a:cubicBezTo>
                  <a:lnTo>
                    <a:pt x="0" y="154642"/>
                  </a:lnTo>
                  <a:cubicBezTo>
                    <a:pt x="0" y="69236"/>
                    <a:pt x="69236" y="0"/>
                    <a:pt x="154642" y="0"/>
                  </a:cubicBezTo>
                  <a:close/>
                </a:path>
              </a:pathLst>
            </a:custGeom>
            <a:solidFill>
              <a:srgbClr val="E4B369"/>
            </a:solidFill>
          </p:spPr>
        </p:sp>
        <p:sp>
          <p:nvSpPr>
            <p:cNvPr name="TextBox 20" id="20"/>
            <p:cNvSpPr txBox="true"/>
            <p:nvPr/>
          </p:nvSpPr>
          <p:spPr>
            <a:xfrm>
              <a:off x="0" y="-114300"/>
              <a:ext cx="540684" cy="423585"/>
            </a:xfrm>
            <a:prstGeom prst="rect">
              <a:avLst/>
            </a:prstGeom>
          </p:spPr>
          <p:txBody>
            <a:bodyPr anchor="ctr" rtlCol="false" tIns="50800" lIns="50800" bIns="50800" rIns="50800"/>
            <a:lstStyle/>
            <a:p>
              <a:pPr algn="ctr">
                <a:lnSpc>
                  <a:spcPts val="4059"/>
                </a:lnSpc>
              </a:pPr>
              <a:r>
                <a:rPr lang="en-US" sz="2899">
                  <a:solidFill>
                    <a:srgbClr val="FFFFFF"/>
                  </a:solidFill>
                  <a:latin typeface="Calibri (MS)"/>
                  <a:ea typeface="Calibri (MS)"/>
                  <a:cs typeface="Calibri (MS)"/>
                  <a:sym typeface="Calibri (MS)"/>
                </a:rPr>
                <a:t>Logistic Regression</a:t>
              </a:r>
            </a:p>
          </p:txBody>
        </p:sp>
      </p:grpSp>
      <p:grpSp>
        <p:nvGrpSpPr>
          <p:cNvPr name="Group 21" id="21"/>
          <p:cNvGrpSpPr/>
          <p:nvPr/>
        </p:nvGrpSpPr>
        <p:grpSpPr>
          <a:xfrm rot="0">
            <a:off x="10112372" y="7433558"/>
            <a:ext cx="2047657" cy="1127314"/>
            <a:chOff x="0" y="0"/>
            <a:chExt cx="539301" cy="296906"/>
          </a:xfrm>
        </p:grpSpPr>
        <p:sp>
          <p:nvSpPr>
            <p:cNvPr name="Freeform 22" id="22"/>
            <p:cNvSpPr/>
            <p:nvPr/>
          </p:nvSpPr>
          <p:spPr>
            <a:xfrm flipH="false" flipV="false" rot="0">
              <a:off x="0" y="0"/>
              <a:ext cx="539301" cy="296906"/>
            </a:xfrm>
            <a:custGeom>
              <a:avLst/>
              <a:gdLst/>
              <a:ahLst/>
              <a:cxnLst/>
              <a:rect r="r" b="b" t="t" l="l"/>
              <a:pathLst>
                <a:path h="296906" w="539301">
                  <a:moveTo>
                    <a:pt x="148453" y="0"/>
                  </a:moveTo>
                  <a:lnTo>
                    <a:pt x="390848" y="0"/>
                  </a:lnTo>
                  <a:cubicBezTo>
                    <a:pt x="430220" y="0"/>
                    <a:pt x="467979" y="15641"/>
                    <a:pt x="495820" y="43481"/>
                  </a:cubicBezTo>
                  <a:cubicBezTo>
                    <a:pt x="523660" y="71321"/>
                    <a:pt x="539301" y="109081"/>
                    <a:pt x="539301" y="148453"/>
                  </a:cubicBezTo>
                  <a:lnTo>
                    <a:pt x="539301" y="148453"/>
                  </a:lnTo>
                  <a:cubicBezTo>
                    <a:pt x="539301" y="187825"/>
                    <a:pt x="523660" y="225585"/>
                    <a:pt x="495820" y="253425"/>
                  </a:cubicBezTo>
                  <a:cubicBezTo>
                    <a:pt x="467979" y="281265"/>
                    <a:pt x="430220" y="296906"/>
                    <a:pt x="390848" y="296906"/>
                  </a:cubicBezTo>
                  <a:lnTo>
                    <a:pt x="148453" y="296906"/>
                  </a:lnTo>
                  <a:cubicBezTo>
                    <a:pt x="109081" y="296906"/>
                    <a:pt x="71321" y="281265"/>
                    <a:pt x="43481" y="253425"/>
                  </a:cubicBezTo>
                  <a:cubicBezTo>
                    <a:pt x="15641" y="225585"/>
                    <a:pt x="0" y="187825"/>
                    <a:pt x="0" y="148453"/>
                  </a:cubicBezTo>
                  <a:lnTo>
                    <a:pt x="0" y="148453"/>
                  </a:lnTo>
                  <a:cubicBezTo>
                    <a:pt x="0" y="109081"/>
                    <a:pt x="15641" y="71321"/>
                    <a:pt x="43481" y="43481"/>
                  </a:cubicBezTo>
                  <a:cubicBezTo>
                    <a:pt x="71321" y="15641"/>
                    <a:pt x="109081" y="0"/>
                    <a:pt x="148453" y="0"/>
                  </a:cubicBezTo>
                  <a:close/>
                </a:path>
              </a:pathLst>
            </a:custGeom>
            <a:solidFill>
              <a:srgbClr val="E4B369"/>
            </a:solidFill>
          </p:spPr>
        </p:sp>
        <p:sp>
          <p:nvSpPr>
            <p:cNvPr name="TextBox 23" id="23"/>
            <p:cNvSpPr txBox="true"/>
            <p:nvPr/>
          </p:nvSpPr>
          <p:spPr>
            <a:xfrm>
              <a:off x="0" y="-57150"/>
              <a:ext cx="539301" cy="354056"/>
            </a:xfrm>
            <a:prstGeom prst="rect">
              <a:avLst/>
            </a:prstGeom>
          </p:spPr>
          <p:txBody>
            <a:bodyPr anchor="ctr" rtlCol="false" tIns="50800" lIns="50800" bIns="50800" rIns="50800"/>
            <a:lstStyle/>
            <a:p>
              <a:pPr algn="ctr">
                <a:lnSpc>
                  <a:spcPts val="3479"/>
                </a:lnSpc>
              </a:pPr>
              <a:r>
                <a:rPr lang="en-US" sz="2899">
                  <a:solidFill>
                    <a:srgbClr val="FFFFFF"/>
                  </a:solidFill>
                  <a:latin typeface="Calibri (MS)"/>
                  <a:ea typeface="Calibri (MS)"/>
                  <a:cs typeface="Calibri (MS)"/>
                  <a:sym typeface="Calibri (MS)"/>
                </a:rPr>
                <a:t>Random Forest </a:t>
              </a:r>
            </a:p>
          </p:txBody>
        </p:sp>
      </p:grpSp>
      <p:grpSp>
        <p:nvGrpSpPr>
          <p:cNvPr name="Group 24" id="24"/>
          <p:cNvGrpSpPr/>
          <p:nvPr/>
        </p:nvGrpSpPr>
        <p:grpSpPr>
          <a:xfrm rot="0">
            <a:off x="12529607" y="3591870"/>
            <a:ext cx="1557686" cy="964472"/>
            <a:chOff x="0" y="0"/>
            <a:chExt cx="410255" cy="254017"/>
          </a:xfrm>
        </p:grpSpPr>
        <p:sp>
          <p:nvSpPr>
            <p:cNvPr name="Freeform 25" id="25"/>
            <p:cNvSpPr/>
            <p:nvPr/>
          </p:nvSpPr>
          <p:spPr>
            <a:xfrm flipH="false" flipV="false" rot="0">
              <a:off x="0" y="0"/>
              <a:ext cx="410255" cy="254017"/>
            </a:xfrm>
            <a:custGeom>
              <a:avLst/>
              <a:gdLst/>
              <a:ahLst/>
              <a:cxnLst/>
              <a:rect r="r" b="b" t="t" l="l"/>
              <a:pathLst>
                <a:path h="254017" w="410255">
                  <a:moveTo>
                    <a:pt x="127009" y="0"/>
                  </a:moveTo>
                  <a:lnTo>
                    <a:pt x="283246" y="0"/>
                  </a:lnTo>
                  <a:cubicBezTo>
                    <a:pt x="316931" y="0"/>
                    <a:pt x="349236" y="13381"/>
                    <a:pt x="373055" y="37200"/>
                  </a:cubicBezTo>
                  <a:cubicBezTo>
                    <a:pt x="396874" y="61019"/>
                    <a:pt x="410255" y="93324"/>
                    <a:pt x="410255" y="127009"/>
                  </a:cubicBezTo>
                  <a:lnTo>
                    <a:pt x="410255" y="127009"/>
                  </a:lnTo>
                  <a:cubicBezTo>
                    <a:pt x="410255" y="160693"/>
                    <a:pt x="396874" y="192999"/>
                    <a:pt x="373055" y="216817"/>
                  </a:cubicBezTo>
                  <a:cubicBezTo>
                    <a:pt x="349236" y="240636"/>
                    <a:pt x="316931" y="254017"/>
                    <a:pt x="283246" y="254017"/>
                  </a:cubicBezTo>
                  <a:lnTo>
                    <a:pt x="127009" y="254017"/>
                  </a:lnTo>
                  <a:cubicBezTo>
                    <a:pt x="93324" y="254017"/>
                    <a:pt x="61019" y="240636"/>
                    <a:pt x="37200" y="216817"/>
                  </a:cubicBezTo>
                  <a:cubicBezTo>
                    <a:pt x="13381" y="192999"/>
                    <a:pt x="0" y="160693"/>
                    <a:pt x="0" y="127009"/>
                  </a:cubicBezTo>
                  <a:lnTo>
                    <a:pt x="0" y="127009"/>
                  </a:lnTo>
                  <a:cubicBezTo>
                    <a:pt x="0" y="93324"/>
                    <a:pt x="13381" y="61019"/>
                    <a:pt x="37200" y="37200"/>
                  </a:cubicBezTo>
                  <a:cubicBezTo>
                    <a:pt x="61019" y="13381"/>
                    <a:pt x="93324" y="0"/>
                    <a:pt x="127009" y="0"/>
                  </a:cubicBezTo>
                  <a:close/>
                </a:path>
              </a:pathLst>
            </a:custGeom>
            <a:solidFill>
              <a:srgbClr val="E4B369"/>
            </a:solidFill>
          </p:spPr>
        </p:sp>
        <p:sp>
          <p:nvSpPr>
            <p:cNvPr name="TextBox 26" id="26"/>
            <p:cNvSpPr txBox="true"/>
            <p:nvPr/>
          </p:nvSpPr>
          <p:spPr>
            <a:xfrm>
              <a:off x="0" y="-114300"/>
              <a:ext cx="410255" cy="368317"/>
            </a:xfrm>
            <a:prstGeom prst="rect">
              <a:avLst/>
            </a:prstGeom>
          </p:spPr>
          <p:txBody>
            <a:bodyPr anchor="ctr" rtlCol="false" tIns="50800" lIns="50800" bIns="50800" rIns="50800"/>
            <a:lstStyle/>
            <a:p>
              <a:pPr algn="ctr">
                <a:lnSpc>
                  <a:spcPts val="4059"/>
                </a:lnSpc>
              </a:pPr>
              <a:r>
                <a:rPr lang="en-US" sz="2899">
                  <a:solidFill>
                    <a:srgbClr val="FFFFFF"/>
                  </a:solidFill>
                  <a:latin typeface="Calibri (MS)"/>
                  <a:ea typeface="Calibri (MS)"/>
                  <a:cs typeface="Calibri (MS)"/>
                  <a:sym typeface="Calibri (MS)"/>
                </a:rPr>
                <a:t>XGBoost</a:t>
              </a:r>
            </a:p>
          </p:txBody>
        </p:sp>
      </p:grpSp>
      <p:grpSp>
        <p:nvGrpSpPr>
          <p:cNvPr name="Group 27" id="27"/>
          <p:cNvGrpSpPr/>
          <p:nvPr/>
        </p:nvGrpSpPr>
        <p:grpSpPr>
          <a:xfrm rot="0">
            <a:off x="10940728" y="2754147"/>
            <a:ext cx="1588880" cy="945486"/>
            <a:chOff x="0" y="0"/>
            <a:chExt cx="418470" cy="249017"/>
          </a:xfrm>
        </p:grpSpPr>
        <p:sp>
          <p:nvSpPr>
            <p:cNvPr name="Freeform 28" id="28"/>
            <p:cNvSpPr/>
            <p:nvPr/>
          </p:nvSpPr>
          <p:spPr>
            <a:xfrm flipH="false" flipV="false" rot="0">
              <a:off x="0" y="0"/>
              <a:ext cx="418470" cy="249017"/>
            </a:xfrm>
            <a:custGeom>
              <a:avLst/>
              <a:gdLst/>
              <a:ahLst/>
              <a:cxnLst/>
              <a:rect r="r" b="b" t="t" l="l"/>
              <a:pathLst>
                <a:path h="249017" w="418470">
                  <a:moveTo>
                    <a:pt x="124508" y="0"/>
                  </a:moveTo>
                  <a:lnTo>
                    <a:pt x="293962" y="0"/>
                  </a:lnTo>
                  <a:cubicBezTo>
                    <a:pt x="362726" y="0"/>
                    <a:pt x="418470" y="55744"/>
                    <a:pt x="418470" y="124508"/>
                  </a:cubicBezTo>
                  <a:lnTo>
                    <a:pt x="418470" y="124508"/>
                  </a:lnTo>
                  <a:cubicBezTo>
                    <a:pt x="418470" y="193273"/>
                    <a:pt x="362726" y="249017"/>
                    <a:pt x="293962" y="249017"/>
                  </a:cubicBezTo>
                  <a:lnTo>
                    <a:pt x="124508" y="249017"/>
                  </a:lnTo>
                  <a:cubicBezTo>
                    <a:pt x="55744" y="249017"/>
                    <a:pt x="0" y="193273"/>
                    <a:pt x="0" y="124508"/>
                  </a:cubicBezTo>
                  <a:lnTo>
                    <a:pt x="0" y="124508"/>
                  </a:lnTo>
                  <a:cubicBezTo>
                    <a:pt x="0" y="55744"/>
                    <a:pt x="55744" y="0"/>
                    <a:pt x="124508" y="0"/>
                  </a:cubicBezTo>
                  <a:close/>
                </a:path>
              </a:pathLst>
            </a:custGeom>
            <a:solidFill>
              <a:srgbClr val="E4B369"/>
            </a:solidFill>
          </p:spPr>
        </p:sp>
        <p:sp>
          <p:nvSpPr>
            <p:cNvPr name="TextBox 29" id="29"/>
            <p:cNvSpPr txBox="true"/>
            <p:nvPr/>
          </p:nvSpPr>
          <p:spPr>
            <a:xfrm>
              <a:off x="0" y="-114300"/>
              <a:ext cx="418470" cy="363317"/>
            </a:xfrm>
            <a:prstGeom prst="rect">
              <a:avLst/>
            </a:prstGeom>
          </p:spPr>
          <p:txBody>
            <a:bodyPr anchor="ctr" rtlCol="false" tIns="50800" lIns="50800" bIns="50800" rIns="50800"/>
            <a:lstStyle/>
            <a:p>
              <a:pPr algn="ctr">
                <a:lnSpc>
                  <a:spcPts val="4059"/>
                </a:lnSpc>
              </a:pPr>
              <a:r>
                <a:rPr lang="en-US" sz="2899">
                  <a:solidFill>
                    <a:srgbClr val="FFFFFF"/>
                  </a:solidFill>
                  <a:latin typeface="Calibri (MS)"/>
                  <a:ea typeface="Calibri (MS)"/>
                  <a:cs typeface="Calibri (MS)"/>
                  <a:sym typeface="Calibri (MS)"/>
                </a:rPr>
                <a:t>SVM</a:t>
              </a:r>
            </a:p>
          </p:txBody>
        </p:sp>
      </p:grpSp>
      <p:grpSp>
        <p:nvGrpSpPr>
          <p:cNvPr name="Group 30" id="30"/>
          <p:cNvGrpSpPr/>
          <p:nvPr/>
        </p:nvGrpSpPr>
        <p:grpSpPr>
          <a:xfrm rot="0">
            <a:off x="15210752" y="4902607"/>
            <a:ext cx="2048548" cy="1174316"/>
            <a:chOff x="0" y="0"/>
            <a:chExt cx="539535" cy="309285"/>
          </a:xfrm>
        </p:grpSpPr>
        <p:sp>
          <p:nvSpPr>
            <p:cNvPr name="Freeform 31" id="31"/>
            <p:cNvSpPr/>
            <p:nvPr/>
          </p:nvSpPr>
          <p:spPr>
            <a:xfrm flipH="false" flipV="false" rot="0">
              <a:off x="0" y="0"/>
              <a:ext cx="539535" cy="309285"/>
            </a:xfrm>
            <a:custGeom>
              <a:avLst/>
              <a:gdLst/>
              <a:ahLst/>
              <a:cxnLst/>
              <a:rect r="r" b="b" t="t" l="l"/>
              <a:pathLst>
                <a:path h="309285" w="539535">
                  <a:moveTo>
                    <a:pt x="154642" y="0"/>
                  </a:moveTo>
                  <a:lnTo>
                    <a:pt x="384893" y="0"/>
                  </a:lnTo>
                  <a:cubicBezTo>
                    <a:pt x="425907" y="0"/>
                    <a:pt x="465240" y="16293"/>
                    <a:pt x="494242" y="45294"/>
                  </a:cubicBezTo>
                  <a:cubicBezTo>
                    <a:pt x="523243" y="74295"/>
                    <a:pt x="539535" y="113629"/>
                    <a:pt x="539535" y="154642"/>
                  </a:cubicBezTo>
                  <a:lnTo>
                    <a:pt x="539535" y="154642"/>
                  </a:lnTo>
                  <a:cubicBezTo>
                    <a:pt x="539535" y="240049"/>
                    <a:pt x="470299" y="309285"/>
                    <a:pt x="384893" y="309285"/>
                  </a:cubicBezTo>
                  <a:lnTo>
                    <a:pt x="154642" y="309285"/>
                  </a:lnTo>
                  <a:cubicBezTo>
                    <a:pt x="69236" y="309285"/>
                    <a:pt x="0" y="240049"/>
                    <a:pt x="0" y="154642"/>
                  </a:cubicBezTo>
                  <a:lnTo>
                    <a:pt x="0" y="154642"/>
                  </a:lnTo>
                  <a:cubicBezTo>
                    <a:pt x="0" y="69236"/>
                    <a:pt x="69236" y="0"/>
                    <a:pt x="154642" y="0"/>
                  </a:cubicBezTo>
                  <a:close/>
                </a:path>
              </a:pathLst>
            </a:custGeom>
            <a:solidFill>
              <a:srgbClr val="4E7FC9"/>
            </a:solidFill>
          </p:spPr>
        </p:sp>
        <p:sp>
          <p:nvSpPr>
            <p:cNvPr name="TextBox 32" id="32"/>
            <p:cNvSpPr txBox="true"/>
            <p:nvPr/>
          </p:nvSpPr>
          <p:spPr>
            <a:xfrm>
              <a:off x="0" y="-57150"/>
              <a:ext cx="539535" cy="366435"/>
            </a:xfrm>
            <a:prstGeom prst="rect">
              <a:avLst/>
            </a:prstGeom>
          </p:spPr>
          <p:txBody>
            <a:bodyPr anchor="ctr" rtlCol="false" tIns="50800" lIns="50800" bIns="50800" rIns="50800"/>
            <a:lstStyle/>
            <a:p>
              <a:pPr algn="ctr">
                <a:lnSpc>
                  <a:spcPts val="3479"/>
                </a:lnSpc>
              </a:pPr>
              <a:r>
                <a:rPr lang="en-US" sz="2899">
                  <a:solidFill>
                    <a:srgbClr val="FFFFFF"/>
                  </a:solidFill>
                  <a:latin typeface="Calibri (MS)"/>
                  <a:ea typeface="Calibri (MS)"/>
                  <a:cs typeface="Calibri (MS)"/>
                  <a:sym typeface="Calibri (MS)"/>
                </a:rPr>
                <a:t>Model evaluation</a:t>
              </a:r>
            </a:p>
          </p:txBody>
        </p:sp>
      </p:grpSp>
      <p:sp>
        <p:nvSpPr>
          <p:cNvPr name="AutoShape 33" id="33"/>
          <p:cNvSpPr/>
          <p:nvPr/>
        </p:nvSpPr>
        <p:spPr>
          <a:xfrm>
            <a:off x="2798785" y="4623612"/>
            <a:ext cx="665150" cy="1487237"/>
          </a:xfrm>
          <a:prstGeom prst="line">
            <a:avLst/>
          </a:prstGeom>
          <a:ln cap="flat" w="38100">
            <a:solidFill>
              <a:srgbClr val="165292"/>
            </a:solidFill>
            <a:prstDash val="solid"/>
            <a:headEnd type="none" len="sm" w="sm"/>
            <a:tailEnd type="triangle" len="med" w="lg"/>
          </a:ln>
        </p:spPr>
      </p:sp>
      <p:sp>
        <p:nvSpPr>
          <p:cNvPr name="AutoShape 34" id="34"/>
          <p:cNvSpPr/>
          <p:nvPr/>
        </p:nvSpPr>
        <p:spPr>
          <a:xfrm flipV="true">
            <a:off x="4917547" y="4516393"/>
            <a:ext cx="834007" cy="1562983"/>
          </a:xfrm>
          <a:prstGeom prst="line">
            <a:avLst/>
          </a:prstGeom>
          <a:ln cap="flat" w="38100">
            <a:solidFill>
              <a:srgbClr val="165292"/>
            </a:solidFill>
            <a:prstDash val="solid"/>
            <a:headEnd type="none" len="sm" w="sm"/>
            <a:tailEnd type="triangle" len="med" w="lg"/>
          </a:ln>
        </p:spPr>
      </p:sp>
      <p:sp>
        <p:nvSpPr>
          <p:cNvPr name="AutoShape 35" id="35"/>
          <p:cNvSpPr/>
          <p:nvPr/>
        </p:nvSpPr>
        <p:spPr>
          <a:xfrm>
            <a:off x="7536156" y="4535840"/>
            <a:ext cx="1401698" cy="572100"/>
          </a:xfrm>
          <a:prstGeom prst="line">
            <a:avLst/>
          </a:prstGeom>
          <a:ln cap="flat" w="38100">
            <a:solidFill>
              <a:srgbClr val="165292"/>
            </a:solidFill>
            <a:prstDash val="solid"/>
            <a:headEnd type="none" len="sm" w="sm"/>
            <a:tailEnd type="triangle" len="med" w="lg"/>
          </a:ln>
        </p:spPr>
      </p:sp>
      <p:sp>
        <p:nvSpPr>
          <p:cNvPr name="AutoShape 36" id="36"/>
          <p:cNvSpPr/>
          <p:nvPr/>
        </p:nvSpPr>
        <p:spPr>
          <a:xfrm flipV="true">
            <a:off x="10748534" y="3699633"/>
            <a:ext cx="667036" cy="1324018"/>
          </a:xfrm>
          <a:prstGeom prst="line">
            <a:avLst/>
          </a:prstGeom>
          <a:ln cap="flat" w="38100">
            <a:solidFill>
              <a:srgbClr val="165292"/>
            </a:solidFill>
            <a:prstDash val="solid"/>
            <a:headEnd type="none" len="sm" w="sm"/>
            <a:tailEnd type="triangle" len="med" w="lg"/>
          </a:ln>
        </p:spPr>
      </p:sp>
      <p:sp>
        <p:nvSpPr>
          <p:cNvPr name="AutoShape 37" id="37"/>
          <p:cNvSpPr/>
          <p:nvPr/>
        </p:nvSpPr>
        <p:spPr>
          <a:xfrm flipV="true">
            <a:off x="11444888" y="4464783"/>
            <a:ext cx="1284189" cy="693917"/>
          </a:xfrm>
          <a:prstGeom prst="line">
            <a:avLst/>
          </a:prstGeom>
          <a:ln cap="flat" w="38100">
            <a:solidFill>
              <a:srgbClr val="165292"/>
            </a:solidFill>
            <a:prstDash val="solid"/>
            <a:headEnd type="none" len="sm" w="sm"/>
            <a:tailEnd type="triangle" len="med" w="lg"/>
          </a:ln>
        </p:spPr>
      </p:sp>
      <p:sp>
        <p:nvSpPr>
          <p:cNvPr name="AutoShape 38" id="38"/>
          <p:cNvSpPr/>
          <p:nvPr/>
        </p:nvSpPr>
        <p:spPr>
          <a:xfrm>
            <a:off x="11551591" y="5724935"/>
            <a:ext cx="1189958" cy="766375"/>
          </a:xfrm>
          <a:prstGeom prst="line">
            <a:avLst/>
          </a:prstGeom>
          <a:ln cap="flat" w="38100">
            <a:solidFill>
              <a:srgbClr val="165292"/>
            </a:solidFill>
            <a:prstDash val="solid"/>
            <a:headEnd type="none" len="sm" w="sm"/>
            <a:tailEnd type="triangle" len="med" w="lg"/>
          </a:ln>
        </p:spPr>
      </p:sp>
      <p:sp>
        <p:nvSpPr>
          <p:cNvPr name="AutoShape 39" id="39"/>
          <p:cNvSpPr/>
          <p:nvPr/>
        </p:nvSpPr>
        <p:spPr>
          <a:xfrm>
            <a:off x="10160094" y="6010680"/>
            <a:ext cx="581164" cy="1422877"/>
          </a:xfrm>
          <a:prstGeom prst="line">
            <a:avLst/>
          </a:prstGeom>
          <a:ln cap="flat" w="38100">
            <a:solidFill>
              <a:srgbClr val="165292"/>
            </a:solidFill>
            <a:prstDash val="solid"/>
            <a:headEnd type="none" len="sm" w="sm"/>
            <a:tailEnd type="triangle" len="med" w="lg"/>
          </a:ln>
        </p:spPr>
      </p:sp>
      <p:sp>
        <p:nvSpPr>
          <p:cNvPr name="AutoShape 40" id="40"/>
          <p:cNvSpPr/>
          <p:nvPr/>
        </p:nvSpPr>
        <p:spPr>
          <a:xfrm flipV="true">
            <a:off x="11594555" y="5489765"/>
            <a:ext cx="3616198" cy="27401"/>
          </a:xfrm>
          <a:prstGeom prst="line">
            <a:avLst/>
          </a:prstGeom>
          <a:ln cap="flat" w="38100">
            <a:solidFill>
              <a:srgbClr val="165292"/>
            </a:solidFill>
            <a:prstDash val="solid"/>
            <a:headEnd type="none" len="sm" w="sm"/>
            <a:tailEnd type="triangle" len="med" w="lg"/>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098926" y="2462332"/>
            <a:ext cx="3898473" cy="3689826"/>
            <a:chOff x="0" y="0"/>
            <a:chExt cx="1338216" cy="1266594"/>
          </a:xfrm>
        </p:grpSpPr>
        <p:sp>
          <p:nvSpPr>
            <p:cNvPr name="Freeform 5" id="5"/>
            <p:cNvSpPr/>
            <p:nvPr/>
          </p:nvSpPr>
          <p:spPr>
            <a:xfrm flipH="false" flipV="false" rot="0">
              <a:off x="0" y="0"/>
              <a:ext cx="1338216" cy="1266594"/>
            </a:xfrm>
            <a:custGeom>
              <a:avLst/>
              <a:gdLst/>
              <a:ahLst/>
              <a:cxnLst/>
              <a:rect r="r" b="b" t="t" l="l"/>
              <a:pathLst>
                <a:path h="1266594" w="1338216">
                  <a:moveTo>
                    <a:pt x="0" y="0"/>
                  </a:moveTo>
                  <a:lnTo>
                    <a:pt x="1338216" y="0"/>
                  </a:lnTo>
                  <a:lnTo>
                    <a:pt x="1338216" y="1266594"/>
                  </a:lnTo>
                  <a:lnTo>
                    <a:pt x="0" y="1266594"/>
                  </a:lnTo>
                  <a:close/>
                </a:path>
              </a:pathLst>
            </a:custGeom>
            <a:blipFill>
              <a:blip r:embed="rId3"/>
              <a:stretch>
                <a:fillRect l="0" t="-1185" r="0" b="-1185"/>
              </a:stretch>
            </a:blipFill>
          </p:spPr>
        </p:sp>
      </p:grpSp>
      <p:grpSp>
        <p:nvGrpSpPr>
          <p:cNvPr name="Group 6" id="6"/>
          <p:cNvGrpSpPr/>
          <p:nvPr/>
        </p:nvGrpSpPr>
        <p:grpSpPr>
          <a:xfrm rot="0">
            <a:off x="2098926" y="6357524"/>
            <a:ext cx="7470625" cy="3589234"/>
            <a:chOff x="0" y="0"/>
            <a:chExt cx="2636287" cy="1266594"/>
          </a:xfrm>
        </p:grpSpPr>
        <p:sp>
          <p:nvSpPr>
            <p:cNvPr name="Freeform 7" id="7"/>
            <p:cNvSpPr/>
            <p:nvPr/>
          </p:nvSpPr>
          <p:spPr>
            <a:xfrm flipH="false" flipV="false" rot="0">
              <a:off x="0" y="0"/>
              <a:ext cx="2636287" cy="1266594"/>
            </a:xfrm>
            <a:custGeom>
              <a:avLst/>
              <a:gdLst/>
              <a:ahLst/>
              <a:cxnLst/>
              <a:rect r="r" b="b" t="t" l="l"/>
              <a:pathLst>
                <a:path h="1266594" w="2636287">
                  <a:moveTo>
                    <a:pt x="0" y="0"/>
                  </a:moveTo>
                  <a:lnTo>
                    <a:pt x="2636287" y="0"/>
                  </a:lnTo>
                  <a:lnTo>
                    <a:pt x="2636287" y="1266594"/>
                  </a:lnTo>
                  <a:lnTo>
                    <a:pt x="0" y="1266594"/>
                  </a:lnTo>
                  <a:close/>
                </a:path>
              </a:pathLst>
            </a:custGeom>
            <a:blipFill>
              <a:blip r:embed="rId4"/>
              <a:stretch>
                <a:fillRect l="0" t="-1053" r="0" b="-1053"/>
              </a:stretch>
            </a:blipFill>
          </p:spPr>
        </p:sp>
      </p:grpSp>
      <p:sp>
        <p:nvSpPr>
          <p:cNvPr name="TextBox 8" id="8"/>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sp>
        <p:nvSpPr>
          <p:cNvPr name="TextBox 9" id="9"/>
          <p:cNvSpPr txBox="true"/>
          <p:nvPr/>
        </p:nvSpPr>
        <p:spPr>
          <a:xfrm rot="0">
            <a:off x="1313795" y="1683241"/>
            <a:ext cx="5715676" cy="779091"/>
          </a:xfrm>
          <a:prstGeom prst="rect">
            <a:avLst/>
          </a:prstGeom>
        </p:spPr>
        <p:txBody>
          <a:bodyPr anchor="t" rtlCol="false" tIns="0" lIns="0" bIns="0" rIns="0">
            <a:spAutoFit/>
          </a:bodyPr>
          <a:lstStyle/>
          <a:p>
            <a:pPr algn="ctr">
              <a:lnSpc>
                <a:spcPts val="6119"/>
              </a:lnSpc>
              <a:spcBef>
                <a:spcPct val="0"/>
              </a:spcBef>
            </a:pPr>
            <a:r>
              <a:rPr lang="en-US" b="true" sz="3399">
                <a:solidFill>
                  <a:srgbClr val="000000"/>
                </a:solidFill>
                <a:latin typeface="Calibri (MS) Bold"/>
                <a:ea typeface="Calibri (MS) Bold"/>
                <a:cs typeface="Calibri (MS) Bold"/>
                <a:sym typeface="Calibri (MS) Bold"/>
              </a:rPr>
              <a:t>Exploratory data analysis  (EDA)</a:t>
            </a:r>
          </a:p>
        </p:txBody>
      </p:sp>
      <p:sp>
        <p:nvSpPr>
          <p:cNvPr name="TextBox 10" id="10"/>
          <p:cNvSpPr txBox="true"/>
          <p:nvPr/>
        </p:nvSpPr>
        <p:spPr>
          <a:xfrm rot="0">
            <a:off x="8573668" y="3046982"/>
            <a:ext cx="7404997" cy="1809533"/>
          </a:xfrm>
          <a:prstGeom prst="rect">
            <a:avLst/>
          </a:prstGeom>
        </p:spPr>
        <p:txBody>
          <a:bodyPr anchor="t" rtlCol="false" tIns="0" lIns="0" bIns="0" rIns="0">
            <a:spAutoFit/>
          </a:bodyPr>
          <a:lstStyle/>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Tỉ  lệ sống sót ở nữ giới cao hơn  nam giới do ưu tiên “phụ nữ và trẻ em trước”.</a:t>
            </a:r>
          </a:p>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Là yếu tố dự đoán mạnh mẽ về khả năng sống sót</a:t>
            </a:r>
          </a:p>
        </p:txBody>
      </p:sp>
      <p:sp>
        <p:nvSpPr>
          <p:cNvPr name="TextBox 11" id="11"/>
          <p:cNvSpPr txBox="true"/>
          <p:nvPr/>
        </p:nvSpPr>
        <p:spPr>
          <a:xfrm rot="0">
            <a:off x="10064239" y="6999288"/>
            <a:ext cx="6334305" cy="1371438"/>
          </a:xfrm>
          <a:prstGeom prst="rect">
            <a:avLst/>
          </a:prstGeom>
        </p:spPr>
        <p:txBody>
          <a:bodyPr anchor="t" rtlCol="false" tIns="0" lIns="0" bIns="0" rIns="0">
            <a:spAutoFit/>
          </a:bodyPr>
          <a:lstStyle/>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Các gia định có quy mô vừa và nhỏ có nhiều cơ hội sống sót hơn những người đi một mình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098926" y="2462332"/>
            <a:ext cx="3991212" cy="3777602"/>
            <a:chOff x="0" y="0"/>
            <a:chExt cx="1338216" cy="1266594"/>
          </a:xfrm>
        </p:grpSpPr>
        <p:sp>
          <p:nvSpPr>
            <p:cNvPr name="Freeform 5" id="5"/>
            <p:cNvSpPr/>
            <p:nvPr/>
          </p:nvSpPr>
          <p:spPr>
            <a:xfrm flipH="false" flipV="false" rot="0">
              <a:off x="0" y="0"/>
              <a:ext cx="1338216" cy="1266594"/>
            </a:xfrm>
            <a:custGeom>
              <a:avLst/>
              <a:gdLst/>
              <a:ahLst/>
              <a:cxnLst/>
              <a:rect r="r" b="b" t="t" l="l"/>
              <a:pathLst>
                <a:path h="1266594" w="1338216">
                  <a:moveTo>
                    <a:pt x="0" y="0"/>
                  </a:moveTo>
                  <a:lnTo>
                    <a:pt x="1338216" y="0"/>
                  </a:lnTo>
                  <a:lnTo>
                    <a:pt x="1338216" y="1266594"/>
                  </a:lnTo>
                  <a:lnTo>
                    <a:pt x="0" y="1266594"/>
                  </a:lnTo>
                  <a:close/>
                </a:path>
              </a:pathLst>
            </a:custGeom>
            <a:blipFill>
              <a:blip r:embed="rId3"/>
              <a:stretch>
                <a:fillRect l="0" t="-6158" r="0" b="-6158"/>
              </a:stretch>
            </a:blipFill>
          </p:spPr>
        </p:sp>
      </p:grpSp>
      <p:grpSp>
        <p:nvGrpSpPr>
          <p:cNvPr name="Group 6" id="6"/>
          <p:cNvGrpSpPr/>
          <p:nvPr/>
        </p:nvGrpSpPr>
        <p:grpSpPr>
          <a:xfrm rot="0">
            <a:off x="2345866" y="6490657"/>
            <a:ext cx="3651533" cy="3456102"/>
            <a:chOff x="0" y="0"/>
            <a:chExt cx="1338216" cy="1266594"/>
          </a:xfrm>
        </p:grpSpPr>
        <p:sp>
          <p:nvSpPr>
            <p:cNvPr name="Freeform 7" id="7"/>
            <p:cNvSpPr/>
            <p:nvPr/>
          </p:nvSpPr>
          <p:spPr>
            <a:xfrm flipH="false" flipV="false" rot="0">
              <a:off x="0" y="0"/>
              <a:ext cx="1338216" cy="1266594"/>
            </a:xfrm>
            <a:custGeom>
              <a:avLst/>
              <a:gdLst/>
              <a:ahLst/>
              <a:cxnLst/>
              <a:rect r="r" b="b" t="t" l="l"/>
              <a:pathLst>
                <a:path h="1266594" w="1338216">
                  <a:moveTo>
                    <a:pt x="0" y="0"/>
                  </a:moveTo>
                  <a:lnTo>
                    <a:pt x="1338216" y="0"/>
                  </a:lnTo>
                  <a:lnTo>
                    <a:pt x="1338216" y="1266594"/>
                  </a:lnTo>
                  <a:lnTo>
                    <a:pt x="0" y="1266594"/>
                  </a:lnTo>
                  <a:close/>
                </a:path>
              </a:pathLst>
            </a:custGeom>
            <a:blipFill>
              <a:blip r:embed="rId4"/>
              <a:stretch>
                <a:fillRect l="0" t="-601" r="0" b="-601"/>
              </a:stretch>
            </a:blipFill>
          </p:spPr>
        </p:sp>
      </p:grpSp>
      <p:sp>
        <p:nvSpPr>
          <p:cNvPr name="TextBox 8" id="8"/>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sp>
        <p:nvSpPr>
          <p:cNvPr name="TextBox 9" id="9"/>
          <p:cNvSpPr txBox="true"/>
          <p:nvPr/>
        </p:nvSpPr>
        <p:spPr>
          <a:xfrm rot="0">
            <a:off x="1313795" y="1683241"/>
            <a:ext cx="5715676" cy="779091"/>
          </a:xfrm>
          <a:prstGeom prst="rect">
            <a:avLst/>
          </a:prstGeom>
        </p:spPr>
        <p:txBody>
          <a:bodyPr anchor="t" rtlCol="false" tIns="0" lIns="0" bIns="0" rIns="0">
            <a:spAutoFit/>
          </a:bodyPr>
          <a:lstStyle/>
          <a:p>
            <a:pPr algn="ctr">
              <a:lnSpc>
                <a:spcPts val="6119"/>
              </a:lnSpc>
              <a:spcBef>
                <a:spcPct val="0"/>
              </a:spcBef>
            </a:pPr>
            <a:r>
              <a:rPr lang="en-US" b="true" sz="3399">
                <a:solidFill>
                  <a:srgbClr val="000000"/>
                </a:solidFill>
                <a:latin typeface="Calibri (MS) Bold"/>
                <a:ea typeface="Calibri (MS) Bold"/>
                <a:cs typeface="Calibri (MS) Bold"/>
                <a:sym typeface="Calibri (MS) Bold"/>
              </a:rPr>
              <a:t>Exploratory data analysis  (EDA)</a:t>
            </a:r>
          </a:p>
        </p:txBody>
      </p:sp>
      <p:sp>
        <p:nvSpPr>
          <p:cNvPr name="TextBox 10" id="10"/>
          <p:cNvSpPr txBox="true"/>
          <p:nvPr/>
        </p:nvSpPr>
        <p:spPr>
          <a:xfrm rot="0">
            <a:off x="7203292" y="3424873"/>
            <a:ext cx="8748610" cy="2247629"/>
          </a:xfrm>
          <a:prstGeom prst="rect">
            <a:avLst/>
          </a:prstGeom>
        </p:spPr>
        <p:txBody>
          <a:bodyPr anchor="t" rtlCol="false" tIns="0" lIns="0" bIns="0" rIns="0">
            <a:spAutoFit/>
          </a:bodyPr>
          <a:lstStyle/>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Hạng vé 1: có khả năng sống cao nhất trong 3 hạng vé</a:t>
            </a:r>
          </a:p>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Hạng vé  3: số người chết cao hơn rất nhiều so với số người sống</a:t>
            </a:r>
          </a:p>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Hạng vé đóng vai trò quan trọng trong khả năng sống của từng khách hàng</a:t>
            </a:r>
          </a:p>
        </p:txBody>
      </p:sp>
      <p:sp>
        <p:nvSpPr>
          <p:cNvPr name="TextBox 11" id="11"/>
          <p:cNvSpPr txBox="true"/>
          <p:nvPr/>
        </p:nvSpPr>
        <p:spPr>
          <a:xfrm rot="0">
            <a:off x="7203292" y="6852330"/>
            <a:ext cx="8748610" cy="1809533"/>
          </a:xfrm>
          <a:prstGeom prst="rect">
            <a:avLst/>
          </a:prstGeom>
        </p:spPr>
        <p:txBody>
          <a:bodyPr anchor="t" rtlCol="false" tIns="0" lIns="0" bIns="0" rIns="0">
            <a:spAutoFit/>
          </a:bodyPr>
          <a:lstStyle/>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Cảng S: số lượng khách đông nhất và có tỉ lệ không sống sót cao nhất</a:t>
            </a:r>
          </a:p>
          <a:p>
            <a:pPr algn="l" marL="626106" indent="-313053" lvl="1">
              <a:lnSpc>
                <a:spcPts val="3479"/>
              </a:lnSpc>
              <a:buFont typeface="Arial"/>
              <a:buChar char="•"/>
            </a:pPr>
            <a:r>
              <a:rPr lang="en-US" sz="2899">
                <a:solidFill>
                  <a:srgbClr val="000000"/>
                </a:solidFill>
                <a:latin typeface="Calibri (MS)"/>
                <a:ea typeface="Calibri (MS)"/>
                <a:cs typeface="Calibri (MS)"/>
                <a:sym typeface="Calibri (MS)"/>
              </a:rPr>
              <a:t>Cảng C: số người sống sót và không sống sót gần bằng nhau nhưng tỉ lệ sống sót cao nhất trogn 3 cảng.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aphicFrame>
        <p:nvGraphicFramePr>
          <p:cNvPr name="Object 4" id="4"/>
          <p:cNvGraphicFramePr/>
          <p:nvPr/>
        </p:nvGraphicFramePr>
        <p:xfrm>
          <a:off x="1313795" y="3058727"/>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sp>
        <p:nvSpPr>
          <p:cNvPr name="TextBox 6" id="6"/>
          <p:cNvSpPr txBox="true"/>
          <p:nvPr/>
        </p:nvSpPr>
        <p:spPr>
          <a:xfrm rot="0">
            <a:off x="1313795" y="1800819"/>
            <a:ext cx="3683090" cy="779091"/>
          </a:xfrm>
          <a:prstGeom prst="rect">
            <a:avLst/>
          </a:prstGeom>
        </p:spPr>
        <p:txBody>
          <a:bodyPr anchor="t" rtlCol="false" tIns="0" lIns="0" bIns="0" rIns="0">
            <a:spAutoFit/>
          </a:bodyPr>
          <a:lstStyle/>
          <a:p>
            <a:pPr algn="ctr">
              <a:lnSpc>
                <a:spcPts val="6119"/>
              </a:lnSpc>
              <a:spcBef>
                <a:spcPct val="0"/>
              </a:spcBef>
            </a:pPr>
            <a:r>
              <a:rPr lang="en-US" b="true" sz="3399">
                <a:solidFill>
                  <a:srgbClr val="000000"/>
                </a:solidFill>
                <a:latin typeface="Calibri (MS) Bold"/>
                <a:ea typeface="Calibri (MS) Bold"/>
                <a:cs typeface="Calibri (MS) Bold"/>
                <a:sym typeface="Calibri (MS) Bold"/>
              </a:rPr>
              <a:t>Feature engineering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098766" y="5710366"/>
            <a:ext cx="6661269" cy="1862714"/>
            <a:chOff x="0" y="0"/>
            <a:chExt cx="2906662" cy="812800"/>
          </a:xfrm>
        </p:grpSpPr>
        <p:sp>
          <p:nvSpPr>
            <p:cNvPr name="Freeform 5" id="5"/>
            <p:cNvSpPr/>
            <p:nvPr/>
          </p:nvSpPr>
          <p:spPr>
            <a:xfrm flipH="false" flipV="false" rot="0">
              <a:off x="0" y="0"/>
              <a:ext cx="2906662" cy="812800"/>
            </a:xfrm>
            <a:custGeom>
              <a:avLst/>
              <a:gdLst/>
              <a:ahLst/>
              <a:cxnLst/>
              <a:rect r="r" b="b" t="t" l="l"/>
              <a:pathLst>
                <a:path h="812800" w="2906662">
                  <a:moveTo>
                    <a:pt x="0" y="0"/>
                  </a:moveTo>
                  <a:lnTo>
                    <a:pt x="2906662" y="0"/>
                  </a:lnTo>
                  <a:lnTo>
                    <a:pt x="2906662" y="812800"/>
                  </a:lnTo>
                  <a:lnTo>
                    <a:pt x="0" y="812800"/>
                  </a:lnTo>
                  <a:close/>
                </a:path>
              </a:pathLst>
            </a:custGeom>
            <a:blipFill>
              <a:blip r:embed="rId3"/>
              <a:stretch>
                <a:fillRect l="0" t="-306" r="0" b="-306"/>
              </a:stretch>
            </a:blipFill>
          </p:spPr>
        </p:sp>
      </p:grpSp>
      <p:grpSp>
        <p:nvGrpSpPr>
          <p:cNvPr name="Group 6" id="6"/>
          <p:cNvGrpSpPr/>
          <p:nvPr/>
        </p:nvGrpSpPr>
        <p:grpSpPr>
          <a:xfrm rot="0">
            <a:off x="2442782" y="7744530"/>
            <a:ext cx="6561395" cy="1937771"/>
            <a:chOff x="0" y="0"/>
            <a:chExt cx="2752183" cy="812800"/>
          </a:xfrm>
        </p:grpSpPr>
        <p:sp>
          <p:nvSpPr>
            <p:cNvPr name="Freeform 7" id="7"/>
            <p:cNvSpPr/>
            <p:nvPr/>
          </p:nvSpPr>
          <p:spPr>
            <a:xfrm flipH="false" flipV="false" rot="0">
              <a:off x="0" y="0"/>
              <a:ext cx="2752183" cy="812800"/>
            </a:xfrm>
            <a:custGeom>
              <a:avLst/>
              <a:gdLst/>
              <a:ahLst/>
              <a:cxnLst/>
              <a:rect r="r" b="b" t="t" l="l"/>
              <a:pathLst>
                <a:path h="812800" w="2752183">
                  <a:moveTo>
                    <a:pt x="0" y="0"/>
                  </a:moveTo>
                  <a:lnTo>
                    <a:pt x="2752183" y="0"/>
                  </a:lnTo>
                  <a:lnTo>
                    <a:pt x="2752183" y="812800"/>
                  </a:lnTo>
                  <a:lnTo>
                    <a:pt x="0" y="812800"/>
                  </a:lnTo>
                  <a:close/>
                </a:path>
              </a:pathLst>
            </a:custGeom>
            <a:blipFill>
              <a:blip r:embed="rId4"/>
              <a:stretch>
                <a:fillRect l="-5088" t="0" r="-5088" b="-24353"/>
              </a:stretch>
            </a:blipFill>
          </p:spPr>
        </p:sp>
      </p:grpSp>
      <p:sp>
        <p:nvSpPr>
          <p:cNvPr name="TextBox 8" id="8"/>
          <p:cNvSpPr txBox="true"/>
          <p:nvPr/>
        </p:nvSpPr>
        <p:spPr>
          <a:xfrm rot="0">
            <a:off x="1028700" y="1884440"/>
            <a:ext cx="16230600" cy="3424245"/>
          </a:xfrm>
          <a:prstGeom prst="rect">
            <a:avLst/>
          </a:prstGeom>
        </p:spPr>
        <p:txBody>
          <a:bodyPr anchor="t" rtlCol="false" tIns="0" lIns="0" bIns="0" rIns="0">
            <a:spAutoFit/>
          </a:bodyPr>
          <a:lstStyle/>
          <a:p>
            <a:pPr algn="l">
              <a:lnSpc>
                <a:spcPts val="4479"/>
              </a:lnSpc>
            </a:pPr>
            <a:r>
              <a:rPr lang="en-US" sz="3199" b="true">
                <a:solidFill>
                  <a:srgbClr val="000000"/>
                </a:solidFill>
                <a:latin typeface="Calibri (MS) Bold"/>
                <a:ea typeface="Calibri (MS) Bold"/>
                <a:cs typeface="Calibri (MS) Bold"/>
                <a:sym typeface="Calibri (MS) Bold"/>
              </a:rPr>
              <a:t>Tiền xử lí dữ liệu: </a:t>
            </a:r>
          </a:p>
          <a:p>
            <a:pPr algn="l" marL="690874" indent="-345437" lvl="1">
              <a:lnSpc>
                <a:spcPts val="4479"/>
              </a:lnSpc>
              <a:buFont typeface="Arial"/>
              <a:buChar char="•"/>
            </a:pPr>
            <a:r>
              <a:rPr lang="en-US" sz="3199">
                <a:solidFill>
                  <a:srgbClr val="000000"/>
                </a:solidFill>
                <a:latin typeface="Calibri (MS)"/>
                <a:ea typeface="Calibri (MS)"/>
                <a:cs typeface="Calibri (MS)"/>
                <a:sym typeface="Calibri (MS)"/>
              </a:rPr>
              <a:t>Xử lí các giá trị bị thiếu  </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Age (thiếu 20%): Điền bằng median dựa trên nhóm (Sex, Pclass, Title) để ước tính tuổi chính xác hơn.</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Fare (thiếu 1): Điền bằng median của nhóm Pclass tương ứng.</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Embarked (thiếu 2): Điền bằng giá trị phổ biến nhất.</a:t>
            </a:r>
          </a:p>
        </p:txBody>
      </p:sp>
      <p:sp>
        <p:nvSpPr>
          <p:cNvPr name="TextBox 9" id="9"/>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grpSp>
        <p:nvGrpSpPr>
          <p:cNvPr name="Group 10" id="10"/>
          <p:cNvGrpSpPr/>
          <p:nvPr/>
        </p:nvGrpSpPr>
        <p:grpSpPr>
          <a:xfrm rot="0">
            <a:off x="10880791" y="5539952"/>
            <a:ext cx="5100123" cy="4372579"/>
            <a:chOff x="0" y="0"/>
            <a:chExt cx="2699323" cy="2314259"/>
          </a:xfrm>
        </p:grpSpPr>
        <p:sp>
          <p:nvSpPr>
            <p:cNvPr name="Freeform 11" id="11"/>
            <p:cNvSpPr/>
            <p:nvPr/>
          </p:nvSpPr>
          <p:spPr>
            <a:xfrm flipH="false" flipV="false" rot="0">
              <a:off x="0" y="0"/>
              <a:ext cx="2699323" cy="2314259"/>
            </a:xfrm>
            <a:custGeom>
              <a:avLst/>
              <a:gdLst/>
              <a:ahLst/>
              <a:cxnLst/>
              <a:rect r="r" b="b" t="t" l="l"/>
              <a:pathLst>
                <a:path h="2314259" w="2699323">
                  <a:moveTo>
                    <a:pt x="0" y="0"/>
                  </a:moveTo>
                  <a:lnTo>
                    <a:pt x="2699323" y="0"/>
                  </a:lnTo>
                  <a:lnTo>
                    <a:pt x="2699323" y="2314259"/>
                  </a:lnTo>
                  <a:lnTo>
                    <a:pt x="0" y="2314259"/>
                  </a:lnTo>
                  <a:close/>
                </a:path>
              </a:pathLst>
            </a:custGeom>
            <a:blipFill>
              <a:blip r:embed="rId5"/>
              <a:stretch>
                <a:fillRect l="-386" t="0" r="-386"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299774" y="4500837"/>
            <a:ext cx="7055671" cy="5265649"/>
            <a:chOff x="0" y="0"/>
            <a:chExt cx="3203008" cy="2390406"/>
          </a:xfrm>
        </p:grpSpPr>
        <p:sp>
          <p:nvSpPr>
            <p:cNvPr name="Freeform 5" id="5"/>
            <p:cNvSpPr/>
            <p:nvPr/>
          </p:nvSpPr>
          <p:spPr>
            <a:xfrm flipH="false" flipV="false" rot="0">
              <a:off x="0" y="0"/>
              <a:ext cx="3203008" cy="2390406"/>
            </a:xfrm>
            <a:custGeom>
              <a:avLst/>
              <a:gdLst/>
              <a:ahLst/>
              <a:cxnLst/>
              <a:rect r="r" b="b" t="t" l="l"/>
              <a:pathLst>
                <a:path h="2390406" w="3203008">
                  <a:moveTo>
                    <a:pt x="0" y="0"/>
                  </a:moveTo>
                  <a:lnTo>
                    <a:pt x="3203008" y="0"/>
                  </a:lnTo>
                  <a:lnTo>
                    <a:pt x="3203008" y="2390406"/>
                  </a:lnTo>
                  <a:lnTo>
                    <a:pt x="0" y="2390406"/>
                  </a:lnTo>
                  <a:close/>
                </a:path>
              </a:pathLst>
            </a:custGeom>
            <a:blipFill>
              <a:blip r:embed="rId3"/>
              <a:stretch>
                <a:fillRect l="0" t="-277" r="0" b="-277"/>
              </a:stretch>
            </a:blipFill>
          </p:spPr>
        </p:sp>
      </p:grpSp>
      <p:grpSp>
        <p:nvGrpSpPr>
          <p:cNvPr name="Group 6" id="6"/>
          <p:cNvGrpSpPr/>
          <p:nvPr/>
        </p:nvGrpSpPr>
        <p:grpSpPr>
          <a:xfrm rot="0">
            <a:off x="10181673" y="4500837"/>
            <a:ext cx="6827151" cy="5265649"/>
            <a:chOff x="0" y="0"/>
            <a:chExt cx="3000541" cy="2314259"/>
          </a:xfrm>
        </p:grpSpPr>
        <p:sp>
          <p:nvSpPr>
            <p:cNvPr name="Freeform 7" id="7"/>
            <p:cNvSpPr/>
            <p:nvPr/>
          </p:nvSpPr>
          <p:spPr>
            <a:xfrm flipH="false" flipV="false" rot="0">
              <a:off x="0" y="0"/>
              <a:ext cx="3000541" cy="2314259"/>
            </a:xfrm>
            <a:custGeom>
              <a:avLst/>
              <a:gdLst/>
              <a:ahLst/>
              <a:cxnLst/>
              <a:rect r="r" b="b" t="t" l="l"/>
              <a:pathLst>
                <a:path h="2314259" w="3000541">
                  <a:moveTo>
                    <a:pt x="0" y="0"/>
                  </a:moveTo>
                  <a:lnTo>
                    <a:pt x="3000541" y="0"/>
                  </a:lnTo>
                  <a:lnTo>
                    <a:pt x="3000541" y="2314259"/>
                  </a:lnTo>
                  <a:lnTo>
                    <a:pt x="0" y="2314259"/>
                  </a:lnTo>
                  <a:close/>
                </a:path>
              </a:pathLst>
            </a:custGeom>
            <a:blipFill>
              <a:blip r:embed="rId4"/>
              <a:stretch>
                <a:fillRect l="-277" t="0" r="-277" b="0"/>
              </a:stretch>
            </a:blipFill>
          </p:spPr>
        </p:sp>
      </p:grpSp>
      <p:sp>
        <p:nvSpPr>
          <p:cNvPr name="TextBox 8" id="8"/>
          <p:cNvSpPr txBox="true"/>
          <p:nvPr/>
        </p:nvSpPr>
        <p:spPr>
          <a:xfrm rot="0">
            <a:off x="1028700" y="1957548"/>
            <a:ext cx="16230600" cy="2300187"/>
          </a:xfrm>
          <a:prstGeom prst="rect">
            <a:avLst/>
          </a:prstGeom>
        </p:spPr>
        <p:txBody>
          <a:bodyPr anchor="t" rtlCol="false" tIns="0" lIns="0" bIns="0" rIns="0">
            <a:spAutoFit/>
          </a:bodyPr>
          <a:lstStyle/>
          <a:p>
            <a:pPr algn="l">
              <a:lnSpc>
                <a:spcPts val="4479"/>
              </a:lnSpc>
            </a:pPr>
            <a:r>
              <a:rPr lang="en-US" sz="3199" b="true">
                <a:solidFill>
                  <a:srgbClr val="000000"/>
                </a:solidFill>
                <a:latin typeface="Calibri (MS) Bold"/>
                <a:ea typeface="Calibri (MS) Bold"/>
                <a:cs typeface="Calibri (MS) Bold"/>
                <a:sym typeface="Calibri (MS) Bold"/>
              </a:rPr>
              <a:t>Chuẩn hóa (Normalization):</a:t>
            </a:r>
          </a:p>
          <a:p>
            <a:pPr algn="l" marL="690874" indent="-345437" lvl="1">
              <a:lnSpc>
                <a:spcPts val="4479"/>
              </a:lnSpc>
              <a:buFont typeface="Arial"/>
              <a:buChar char="•"/>
            </a:pPr>
            <a:r>
              <a:rPr lang="en-US" sz="3199">
                <a:solidFill>
                  <a:srgbClr val="000000"/>
                </a:solidFill>
                <a:latin typeface="Calibri (MS)"/>
                <a:ea typeface="Calibri (MS)"/>
                <a:cs typeface="Calibri (MS)"/>
                <a:sym typeface="Calibri (MS)"/>
              </a:rPr>
              <a:t>Áp dụng Log Transformation cho Far</a:t>
            </a:r>
            <a:r>
              <a:rPr lang="en-US" sz="3199">
                <a:solidFill>
                  <a:srgbClr val="000000"/>
                </a:solidFill>
                <a:latin typeface="Calibri (MS)"/>
                <a:ea typeface="Calibri (MS)"/>
                <a:cs typeface="Calibri (MS)"/>
                <a:sym typeface="Calibri (MS)"/>
              </a:rPr>
              <a:t>e và Age để giảm độ lệch (skewness) của dữ liệu.</a:t>
            </a:r>
          </a:p>
          <a:p>
            <a:pPr algn="l" marL="690874" indent="-345437" lvl="1">
              <a:lnSpc>
                <a:spcPts val="4479"/>
              </a:lnSpc>
              <a:buFont typeface="Arial"/>
              <a:buChar char="•"/>
            </a:pPr>
            <a:r>
              <a:rPr lang="en-US" sz="3199">
                <a:solidFill>
                  <a:srgbClr val="000000"/>
                </a:solidFill>
                <a:latin typeface="Calibri (MS)"/>
                <a:ea typeface="Calibri (MS)"/>
                <a:cs typeface="Calibri (MS)"/>
                <a:sym typeface="Calibri (MS)"/>
              </a:rPr>
              <a:t>Các đặc trưng phân loại (Pclass, Sex, Embarked, ...) → OneHotEncder </a:t>
            </a:r>
          </a:p>
          <a:p>
            <a:pPr algn="l" marL="690874" indent="-345437" lvl="1">
              <a:lnSpc>
                <a:spcPts val="4479"/>
              </a:lnSpc>
              <a:buFont typeface="Arial"/>
              <a:buChar char="•"/>
            </a:pPr>
            <a:r>
              <a:rPr lang="en-US" sz="3199">
                <a:solidFill>
                  <a:srgbClr val="000000"/>
                </a:solidFill>
                <a:latin typeface="Calibri (MS)"/>
                <a:ea typeface="Calibri (MS)"/>
                <a:cs typeface="Calibri (MS)"/>
                <a:sym typeface="Calibri (MS)"/>
              </a:rPr>
              <a:t>Các đặc trưng số (Age, Fare, FamilySize,...) → StandardScaler</a:t>
            </a:r>
          </a:p>
        </p:txBody>
      </p:sp>
      <p:sp>
        <p:nvSpPr>
          <p:cNvPr name="TextBox 9" id="9"/>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388246" y="5284276"/>
            <a:ext cx="3027666" cy="2595763"/>
            <a:chOff x="0" y="0"/>
            <a:chExt cx="2699323" cy="2314259"/>
          </a:xfrm>
        </p:grpSpPr>
        <p:sp>
          <p:nvSpPr>
            <p:cNvPr name="Freeform 5" id="5"/>
            <p:cNvSpPr/>
            <p:nvPr/>
          </p:nvSpPr>
          <p:spPr>
            <a:xfrm flipH="false" flipV="false" rot="0">
              <a:off x="0" y="0"/>
              <a:ext cx="2699323" cy="2314259"/>
            </a:xfrm>
            <a:custGeom>
              <a:avLst/>
              <a:gdLst/>
              <a:ahLst/>
              <a:cxnLst/>
              <a:rect r="r" b="b" t="t" l="l"/>
              <a:pathLst>
                <a:path h="2314259" w="2699323">
                  <a:moveTo>
                    <a:pt x="0" y="0"/>
                  </a:moveTo>
                  <a:lnTo>
                    <a:pt x="2699323" y="0"/>
                  </a:lnTo>
                  <a:lnTo>
                    <a:pt x="2699323" y="2314259"/>
                  </a:lnTo>
                  <a:lnTo>
                    <a:pt x="0" y="2314259"/>
                  </a:lnTo>
                  <a:close/>
                </a:path>
              </a:pathLst>
            </a:custGeom>
            <a:blipFill>
              <a:blip r:embed="rId3"/>
              <a:stretch>
                <a:fillRect l="-3821" t="0" r="-3821" b="0"/>
              </a:stretch>
            </a:blipFill>
          </p:spPr>
        </p:sp>
      </p:grpSp>
      <p:grpSp>
        <p:nvGrpSpPr>
          <p:cNvPr name="Group 6" id="6"/>
          <p:cNvGrpSpPr/>
          <p:nvPr/>
        </p:nvGrpSpPr>
        <p:grpSpPr>
          <a:xfrm rot="0">
            <a:off x="5615504" y="5143500"/>
            <a:ext cx="2694277" cy="2736539"/>
            <a:chOff x="0" y="0"/>
            <a:chExt cx="2699323" cy="2741665"/>
          </a:xfrm>
        </p:grpSpPr>
        <p:sp>
          <p:nvSpPr>
            <p:cNvPr name="Freeform 7" id="7"/>
            <p:cNvSpPr/>
            <p:nvPr/>
          </p:nvSpPr>
          <p:spPr>
            <a:xfrm flipH="false" flipV="false" rot="0">
              <a:off x="0" y="0"/>
              <a:ext cx="2699323" cy="2741665"/>
            </a:xfrm>
            <a:custGeom>
              <a:avLst/>
              <a:gdLst/>
              <a:ahLst/>
              <a:cxnLst/>
              <a:rect r="r" b="b" t="t" l="l"/>
              <a:pathLst>
                <a:path h="2741665" w="2699323">
                  <a:moveTo>
                    <a:pt x="0" y="0"/>
                  </a:moveTo>
                  <a:lnTo>
                    <a:pt x="2699323" y="0"/>
                  </a:lnTo>
                  <a:lnTo>
                    <a:pt x="2699323" y="2741665"/>
                  </a:lnTo>
                  <a:lnTo>
                    <a:pt x="0" y="2741665"/>
                  </a:lnTo>
                  <a:close/>
                </a:path>
              </a:pathLst>
            </a:custGeom>
            <a:blipFill>
              <a:blip r:embed="rId4"/>
              <a:stretch>
                <a:fillRect l="-784" t="0" r="-784" b="0"/>
              </a:stretch>
            </a:blipFill>
          </p:spPr>
        </p:sp>
      </p:grpSp>
      <p:grpSp>
        <p:nvGrpSpPr>
          <p:cNvPr name="Group 8" id="8"/>
          <p:cNvGrpSpPr/>
          <p:nvPr/>
        </p:nvGrpSpPr>
        <p:grpSpPr>
          <a:xfrm rot="0">
            <a:off x="9544921" y="5284467"/>
            <a:ext cx="2945207" cy="2595763"/>
            <a:chOff x="0" y="0"/>
            <a:chExt cx="2881419" cy="2539543"/>
          </a:xfrm>
        </p:grpSpPr>
        <p:sp>
          <p:nvSpPr>
            <p:cNvPr name="Freeform 9" id="9"/>
            <p:cNvSpPr/>
            <p:nvPr/>
          </p:nvSpPr>
          <p:spPr>
            <a:xfrm flipH="false" flipV="false" rot="0">
              <a:off x="0" y="0"/>
              <a:ext cx="2881419" cy="2539543"/>
            </a:xfrm>
            <a:custGeom>
              <a:avLst/>
              <a:gdLst/>
              <a:ahLst/>
              <a:cxnLst/>
              <a:rect r="r" b="b" t="t" l="l"/>
              <a:pathLst>
                <a:path h="2539543" w="2881419">
                  <a:moveTo>
                    <a:pt x="0" y="0"/>
                  </a:moveTo>
                  <a:lnTo>
                    <a:pt x="2881419" y="0"/>
                  </a:lnTo>
                  <a:lnTo>
                    <a:pt x="2881419" y="2539543"/>
                  </a:lnTo>
                  <a:lnTo>
                    <a:pt x="0" y="2539543"/>
                  </a:lnTo>
                  <a:close/>
                </a:path>
              </a:pathLst>
            </a:custGeom>
            <a:blipFill>
              <a:blip r:embed="rId5"/>
              <a:stretch>
                <a:fillRect l="0" t="-439" r="0" b="-439"/>
              </a:stretch>
            </a:blipFill>
          </p:spPr>
        </p:sp>
      </p:grpSp>
      <p:sp>
        <p:nvSpPr>
          <p:cNvPr name="TextBox 10" id="10"/>
          <p:cNvSpPr txBox="true"/>
          <p:nvPr/>
        </p:nvSpPr>
        <p:spPr>
          <a:xfrm rot="0">
            <a:off x="1388246" y="2193841"/>
            <a:ext cx="16230600" cy="2862216"/>
          </a:xfrm>
          <a:prstGeom prst="rect">
            <a:avLst/>
          </a:prstGeom>
        </p:spPr>
        <p:txBody>
          <a:bodyPr anchor="t" rtlCol="false" tIns="0" lIns="0" bIns="0" rIns="0">
            <a:spAutoFit/>
          </a:bodyPr>
          <a:lstStyle/>
          <a:p>
            <a:pPr algn="l">
              <a:lnSpc>
                <a:spcPts val="4479"/>
              </a:lnSpc>
            </a:pPr>
            <a:r>
              <a:rPr lang="en-US" sz="3199" b="true">
                <a:solidFill>
                  <a:srgbClr val="000000"/>
                </a:solidFill>
                <a:latin typeface="Calibri (MS) Bold"/>
                <a:ea typeface="Calibri (MS) Bold"/>
                <a:cs typeface="Calibri (MS) Bold"/>
                <a:sym typeface="Calibri (MS) Bold"/>
              </a:rPr>
              <a:t>Model training:</a:t>
            </a:r>
          </a:p>
          <a:p>
            <a:pPr algn="l" marL="690874" indent="-345437" lvl="1">
              <a:lnSpc>
                <a:spcPts val="4479"/>
              </a:lnSpc>
              <a:buFont typeface="Arial"/>
              <a:buChar char="•"/>
            </a:pPr>
            <a:r>
              <a:rPr lang="en-US" sz="3199">
                <a:solidFill>
                  <a:srgbClr val="000000"/>
                </a:solidFill>
                <a:latin typeface="Calibri (MS)"/>
                <a:ea typeface="Calibri (MS)"/>
                <a:cs typeface="Calibri (MS)"/>
                <a:sym typeface="Calibri (MS)"/>
              </a:rPr>
              <a:t>Các Mô hình Được Thử nghiệm</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Phân loại Cơ bản (Baseline): Logistic Regression, Support Vector Machine (SVM).</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Mô hình Ensemble: Random For</a:t>
            </a:r>
            <a:r>
              <a:rPr lang="en-US" sz="3199">
                <a:solidFill>
                  <a:srgbClr val="000000"/>
                </a:solidFill>
                <a:latin typeface="Calibri (MS)"/>
                <a:ea typeface="Calibri (MS)"/>
                <a:cs typeface="Calibri (MS)"/>
                <a:sym typeface="Calibri (MS)"/>
              </a:rPr>
              <a:t>est và XGBoost (Extreme Gradient Boosting).</a:t>
            </a:r>
          </a:p>
          <a:p>
            <a:pPr algn="l">
              <a:lnSpc>
                <a:spcPts val="4479"/>
              </a:lnSpc>
            </a:pPr>
          </a:p>
        </p:txBody>
      </p:sp>
      <p:sp>
        <p:nvSpPr>
          <p:cNvPr name="TextBox 11" id="11"/>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grpSp>
        <p:nvGrpSpPr>
          <p:cNvPr name="Group 12" id="12"/>
          <p:cNvGrpSpPr/>
          <p:nvPr/>
        </p:nvGrpSpPr>
        <p:grpSpPr>
          <a:xfrm rot="0">
            <a:off x="13725270" y="5143500"/>
            <a:ext cx="3335447" cy="2666151"/>
            <a:chOff x="0" y="0"/>
            <a:chExt cx="2895217" cy="2314259"/>
          </a:xfrm>
        </p:grpSpPr>
        <p:sp>
          <p:nvSpPr>
            <p:cNvPr name="Freeform 13" id="13"/>
            <p:cNvSpPr/>
            <p:nvPr/>
          </p:nvSpPr>
          <p:spPr>
            <a:xfrm flipH="false" flipV="false" rot="0">
              <a:off x="0" y="0"/>
              <a:ext cx="2895217" cy="2314259"/>
            </a:xfrm>
            <a:custGeom>
              <a:avLst/>
              <a:gdLst/>
              <a:ahLst/>
              <a:cxnLst/>
              <a:rect r="r" b="b" t="t" l="l"/>
              <a:pathLst>
                <a:path h="2314259" w="2895217">
                  <a:moveTo>
                    <a:pt x="0" y="0"/>
                  </a:moveTo>
                  <a:lnTo>
                    <a:pt x="2895217" y="0"/>
                  </a:lnTo>
                  <a:lnTo>
                    <a:pt x="2895217" y="2314259"/>
                  </a:lnTo>
                  <a:lnTo>
                    <a:pt x="0" y="2314259"/>
                  </a:lnTo>
                  <a:close/>
                </a:path>
              </a:pathLst>
            </a:custGeom>
            <a:blipFill>
              <a:blip r:embed="rId6"/>
              <a:stretch>
                <a:fillRect l="-3112" t="0" r="-3112" b="0"/>
              </a:stretch>
            </a:blipFill>
          </p:spPr>
        </p:sp>
      </p:grpSp>
      <p:sp>
        <p:nvSpPr>
          <p:cNvPr name="TextBox 14" id="14"/>
          <p:cNvSpPr txBox="true"/>
          <p:nvPr/>
        </p:nvSpPr>
        <p:spPr>
          <a:xfrm rot="0">
            <a:off x="1837970" y="7956239"/>
            <a:ext cx="2128218" cy="457173"/>
          </a:xfrm>
          <a:prstGeom prst="rect">
            <a:avLst/>
          </a:prstGeom>
        </p:spPr>
        <p:txBody>
          <a:bodyPr anchor="t" rtlCol="false" tIns="0" lIns="0" bIns="0" rIns="0">
            <a:spAutoFit/>
          </a:bodyPr>
          <a:lstStyle/>
          <a:p>
            <a:pPr algn="l">
              <a:lnSpc>
                <a:spcPts val="3600"/>
              </a:lnSpc>
              <a:spcBef>
                <a:spcPct val="0"/>
              </a:spcBef>
            </a:pPr>
            <a:r>
              <a:rPr lang="en-US" sz="2000">
                <a:solidFill>
                  <a:srgbClr val="000000"/>
                </a:solidFill>
                <a:latin typeface="Calibri (MS)"/>
                <a:ea typeface="Calibri (MS)"/>
                <a:cs typeface="Calibri (MS)"/>
                <a:sym typeface="Calibri (MS)"/>
              </a:rPr>
              <a:t>Logistic Regression</a:t>
            </a:r>
          </a:p>
        </p:txBody>
      </p:sp>
      <p:sp>
        <p:nvSpPr>
          <p:cNvPr name="TextBox 15" id="15"/>
          <p:cNvSpPr txBox="true"/>
          <p:nvPr/>
        </p:nvSpPr>
        <p:spPr>
          <a:xfrm rot="0">
            <a:off x="6609051" y="7956239"/>
            <a:ext cx="1212098" cy="457173"/>
          </a:xfrm>
          <a:prstGeom prst="rect">
            <a:avLst/>
          </a:prstGeom>
        </p:spPr>
        <p:txBody>
          <a:bodyPr anchor="t" rtlCol="false" tIns="0" lIns="0" bIns="0" rIns="0">
            <a:spAutoFit/>
          </a:bodyPr>
          <a:lstStyle/>
          <a:p>
            <a:pPr algn="l">
              <a:lnSpc>
                <a:spcPts val="3600"/>
              </a:lnSpc>
              <a:spcBef>
                <a:spcPct val="0"/>
              </a:spcBef>
            </a:pPr>
            <a:r>
              <a:rPr lang="en-US" sz="2000">
                <a:solidFill>
                  <a:srgbClr val="000000"/>
                </a:solidFill>
                <a:latin typeface="Calibri (MS)"/>
                <a:ea typeface="Calibri (MS)"/>
                <a:cs typeface="Calibri (MS)"/>
                <a:sym typeface="Calibri (MS)"/>
              </a:rPr>
              <a:t>SVM</a:t>
            </a:r>
          </a:p>
        </p:txBody>
      </p:sp>
      <p:sp>
        <p:nvSpPr>
          <p:cNvPr name="TextBox 16" id="16"/>
          <p:cNvSpPr txBox="true"/>
          <p:nvPr/>
        </p:nvSpPr>
        <p:spPr>
          <a:xfrm rot="0">
            <a:off x="10216101" y="7956430"/>
            <a:ext cx="1602848" cy="457173"/>
          </a:xfrm>
          <a:prstGeom prst="rect">
            <a:avLst/>
          </a:prstGeom>
        </p:spPr>
        <p:txBody>
          <a:bodyPr anchor="t" rtlCol="false" tIns="0" lIns="0" bIns="0" rIns="0">
            <a:spAutoFit/>
          </a:bodyPr>
          <a:lstStyle/>
          <a:p>
            <a:pPr algn="ctr">
              <a:lnSpc>
                <a:spcPts val="3600"/>
              </a:lnSpc>
              <a:spcBef>
                <a:spcPct val="0"/>
              </a:spcBef>
            </a:pPr>
            <a:r>
              <a:rPr lang="en-US" sz="2000">
                <a:solidFill>
                  <a:srgbClr val="000000"/>
                </a:solidFill>
                <a:latin typeface="Calibri (MS)"/>
                <a:ea typeface="Calibri (MS)"/>
                <a:cs typeface="Calibri (MS)"/>
                <a:sym typeface="Calibri (MS)"/>
              </a:rPr>
              <a:t>Random Frest</a:t>
            </a:r>
          </a:p>
        </p:txBody>
      </p:sp>
      <p:sp>
        <p:nvSpPr>
          <p:cNvPr name="TextBox 17" id="17"/>
          <p:cNvSpPr txBox="true"/>
          <p:nvPr/>
        </p:nvSpPr>
        <p:spPr>
          <a:xfrm rot="0">
            <a:off x="14591569" y="7956239"/>
            <a:ext cx="1602848" cy="457173"/>
          </a:xfrm>
          <a:prstGeom prst="rect">
            <a:avLst/>
          </a:prstGeom>
        </p:spPr>
        <p:txBody>
          <a:bodyPr anchor="t" rtlCol="false" tIns="0" lIns="0" bIns="0" rIns="0">
            <a:spAutoFit/>
          </a:bodyPr>
          <a:lstStyle/>
          <a:p>
            <a:pPr algn="ctr">
              <a:lnSpc>
                <a:spcPts val="3600"/>
              </a:lnSpc>
              <a:spcBef>
                <a:spcPct val="0"/>
              </a:spcBef>
            </a:pPr>
            <a:r>
              <a:rPr lang="en-US" sz="2000">
                <a:solidFill>
                  <a:srgbClr val="000000"/>
                </a:solidFill>
                <a:latin typeface="Calibri (MS)"/>
                <a:ea typeface="Calibri (MS)"/>
                <a:cs typeface="Calibri (MS)"/>
                <a:sym typeface="Calibri (MS)"/>
              </a:rPr>
              <a:t>XGBoost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163782" y="2092628"/>
            <a:ext cx="15715655" cy="4548304"/>
          </a:xfrm>
          <a:prstGeom prst="rect">
            <a:avLst/>
          </a:prstGeom>
        </p:spPr>
        <p:txBody>
          <a:bodyPr anchor="t" rtlCol="false" tIns="0" lIns="0" bIns="0" rIns="0">
            <a:spAutoFit/>
          </a:bodyPr>
          <a:lstStyle/>
          <a:p>
            <a:pPr algn="l">
              <a:lnSpc>
                <a:spcPts val="4479"/>
              </a:lnSpc>
            </a:pPr>
            <a:r>
              <a:rPr lang="en-US" sz="3199" b="true">
                <a:solidFill>
                  <a:srgbClr val="000000"/>
                </a:solidFill>
                <a:latin typeface="Calibri (MS) Bold"/>
                <a:ea typeface="Calibri (MS) Bold"/>
                <a:cs typeface="Calibri (MS) Bold"/>
                <a:sym typeface="Calibri (MS) Bold"/>
              </a:rPr>
              <a:t>Model evaluation:</a:t>
            </a:r>
          </a:p>
          <a:p>
            <a:pPr algn="l" marL="690874" indent="-345437" lvl="1">
              <a:lnSpc>
                <a:spcPts val="4479"/>
              </a:lnSpc>
              <a:buFont typeface="Arial"/>
              <a:buChar char="•"/>
            </a:pPr>
            <a:r>
              <a:rPr lang="en-US" sz="3199">
                <a:solidFill>
                  <a:srgbClr val="000000"/>
                </a:solidFill>
                <a:latin typeface="Calibri (MS)"/>
                <a:ea typeface="Calibri (MS)"/>
                <a:cs typeface="Calibri (MS)"/>
                <a:sym typeface="Calibri (MS)"/>
              </a:rPr>
              <a:t>Đánh giá bằng Cross-Validation</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Mục đích: Đánh giá độ ổn định và hiệu suất tổng quát của mô hìn.</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Đảm bảo rằng tỉ lệ Survived được duy trì đồng đều trong mỗi 10 tập con, đặc biệt quan trọng khi lớp mục tiêu có sự mất cân bằng nhỏ (chỉ 38% sống sót).</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Thực thi: Huấn luyện và đánh giá mô hình 10 lần, sau đó lấy giá trị trung bình của các chỉ số (Accuracy, F1 Score, ROC AUC).</a:t>
            </a:r>
          </a:p>
          <a:p>
            <a:pPr algn="l">
              <a:lnSpc>
                <a:spcPts val="4479"/>
              </a:lnSpc>
            </a:pPr>
          </a:p>
        </p:txBody>
      </p:sp>
      <p:sp>
        <p:nvSpPr>
          <p:cNvPr name="TextBox 5" id="5"/>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grpSp>
        <p:nvGrpSpPr>
          <p:cNvPr name="Group 6" id="6"/>
          <p:cNvGrpSpPr/>
          <p:nvPr/>
        </p:nvGrpSpPr>
        <p:grpSpPr>
          <a:xfrm rot="0">
            <a:off x="2248540" y="6221664"/>
            <a:ext cx="5754230" cy="3546173"/>
            <a:chOff x="0" y="0"/>
            <a:chExt cx="4532998" cy="2793561"/>
          </a:xfrm>
        </p:grpSpPr>
        <p:sp>
          <p:nvSpPr>
            <p:cNvPr name="Freeform 7" id="7"/>
            <p:cNvSpPr/>
            <p:nvPr/>
          </p:nvSpPr>
          <p:spPr>
            <a:xfrm flipH="false" flipV="false" rot="0">
              <a:off x="0" y="0"/>
              <a:ext cx="4532999" cy="2793561"/>
            </a:xfrm>
            <a:custGeom>
              <a:avLst/>
              <a:gdLst/>
              <a:ahLst/>
              <a:cxnLst/>
              <a:rect r="r" b="b" t="t" l="l"/>
              <a:pathLst>
                <a:path h="2793561" w="4532999">
                  <a:moveTo>
                    <a:pt x="0" y="0"/>
                  </a:moveTo>
                  <a:lnTo>
                    <a:pt x="4532999" y="0"/>
                  </a:lnTo>
                  <a:lnTo>
                    <a:pt x="4532999" y="2793561"/>
                  </a:lnTo>
                  <a:lnTo>
                    <a:pt x="0" y="2793561"/>
                  </a:lnTo>
                  <a:close/>
                </a:path>
              </a:pathLst>
            </a:custGeom>
            <a:blipFill>
              <a:blip r:embed="rId3"/>
              <a:stretch>
                <a:fillRect l="-2337" t="0" r="-2337"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163782" y="2092628"/>
            <a:ext cx="15715655" cy="5110333"/>
          </a:xfrm>
          <a:prstGeom prst="rect">
            <a:avLst/>
          </a:prstGeom>
        </p:spPr>
        <p:txBody>
          <a:bodyPr anchor="t" rtlCol="false" tIns="0" lIns="0" bIns="0" rIns="0">
            <a:spAutoFit/>
          </a:bodyPr>
          <a:lstStyle/>
          <a:p>
            <a:pPr algn="l">
              <a:lnSpc>
                <a:spcPts val="4479"/>
              </a:lnSpc>
            </a:pPr>
            <a:r>
              <a:rPr lang="en-US" sz="3199" b="true">
                <a:solidFill>
                  <a:srgbClr val="000000"/>
                </a:solidFill>
                <a:latin typeface="Calibri (MS) Bold"/>
                <a:ea typeface="Calibri (MS) Bold"/>
                <a:cs typeface="Calibri (MS) Bold"/>
                <a:sym typeface="Calibri (MS) Bold"/>
              </a:rPr>
              <a:t>Model evaluation:</a:t>
            </a:r>
          </a:p>
          <a:p>
            <a:pPr algn="l" marL="690874" indent="-345437" lvl="1">
              <a:lnSpc>
                <a:spcPts val="4479"/>
              </a:lnSpc>
              <a:buFont typeface="Arial"/>
              <a:buChar char="•"/>
            </a:pPr>
            <a:r>
              <a:rPr lang="en-US" b="true" sz="3199">
                <a:solidFill>
                  <a:srgbClr val="000000"/>
                </a:solidFill>
                <a:latin typeface="Calibri (MS) Bold"/>
                <a:ea typeface="Calibri (MS) Bold"/>
                <a:cs typeface="Calibri (MS) Bold"/>
                <a:sym typeface="Calibri (MS) Bold"/>
              </a:rPr>
              <a:t>Đánh giá bằng train_split_test:</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Mục đích: Đánh giá hiệu suất của mô hình trên một tập validation riêng biệt (hold-out set) sau khi mô hình đã được huấn luyện trên phần còn lại.</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Phân chia: Tập dữ liệu được chia thành 80% cho huấn luyện (x_train, y_train) và 20% cho đánh giá (x_val, y_val).</a:t>
            </a:r>
          </a:p>
          <a:p>
            <a:pPr algn="l" marL="1381748" indent="-460583" lvl="2">
              <a:lnSpc>
                <a:spcPts val="4479"/>
              </a:lnSpc>
              <a:buFont typeface="Arial"/>
              <a:buChar char="⚬"/>
            </a:pPr>
            <a:r>
              <a:rPr lang="en-US" sz="3199">
                <a:solidFill>
                  <a:srgbClr val="000000"/>
                </a:solidFill>
                <a:latin typeface="Calibri (MS)"/>
                <a:ea typeface="Calibri (MS)"/>
                <a:cs typeface="Calibri (MS)"/>
                <a:sym typeface="Calibri (MS)"/>
              </a:rPr>
              <a:t>Ứng dụng: Kết quả này thường được dùng để so sánh nhanh và hỗ trợ quyết định tinh chỉnh siêu tham số.</a:t>
            </a:r>
          </a:p>
          <a:p>
            <a:pPr algn="l">
              <a:lnSpc>
                <a:spcPts val="4479"/>
              </a:lnSpc>
            </a:pPr>
          </a:p>
        </p:txBody>
      </p:sp>
      <p:sp>
        <p:nvSpPr>
          <p:cNvPr name="TextBox 5" id="5"/>
          <p:cNvSpPr txBox="true"/>
          <p:nvPr/>
        </p:nvSpPr>
        <p:spPr>
          <a:xfrm rot="0">
            <a:off x="1028700" y="914400"/>
            <a:ext cx="645367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3. Proposed methods</a:t>
            </a:r>
          </a:p>
        </p:txBody>
      </p:sp>
      <p:grpSp>
        <p:nvGrpSpPr>
          <p:cNvPr name="Group 6" id="6"/>
          <p:cNvGrpSpPr/>
          <p:nvPr/>
        </p:nvGrpSpPr>
        <p:grpSpPr>
          <a:xfrm rot="0">
            <a:off x="2143513" y="6752326"/>
            <a:ext cx="5338860" cy="3252304"/>
            <a:chOff x="0" y="0"/>
            <a:chExt cx="7118480" cy="4336405"/>
          </a:xfrm>
        </p:grpSpPr>
        <p:sp>
          <p:nvSpPr>
            <p:cNvPr name="Freeform 7" id="7"/>
            <p:cNvSpPr/>
            <p:nvPr/>
          </p:nvSpPr>
          <p:spPr>
            <a:xfrm flipH="false" flipV="false" rot="0">
              <a:off x="419855" y="418001"/>
              <a:ext cx="6278769" cy="3918404"/>
            </a:xfrm>
            <a:custGeom>
              <a:avLst/>
              <a:gdLst/>
              <a:ahLst/>
              <a:cxnLst/>
              <a:rect r="r" b="b" t="t" l="l"/>
              <a:pathLst>
                <a:path h="3918404" w="6278769">
                  <a:moveTo>
                    <a:pt x="0" y="0"/>
                  </a:moveTo>
                  <a:lnTo>
                    <a:pt x="6278769" y="0"/>
                  </a:lnTo>
                  <a:lnTo>
                    <a:pt x="6278769" y="3918404"/>
                  </a:lnTo>
                  <a:lnTo>
                    <a:pt x="0" y="3918404"/>
                  </a:lnTo>
                  <a:lnTo>
                    <a:pt x="0" y="0"/>
                  </a:lnTo>
                  <a:close/>
                </a:path>
              </a:pathLst>
            </a:custGeom>
            <a:blipFill>
              <a:blip r:embed="rId3"/>
              <a:stretch>
                <a:fillRect l="0" t="-10089" r="0" b="-10089"/>
              </a:stretch>
            </a:blipFill>
          </p:spPr>
        </p:sp>
        <p:sp>
          <p:nvSpPr>
            <p:cNvPr name="TextBox 8" id="8"/>
            <p:cNvSpPr txBox="true"/>
            <p:nvPr/>
          </p:nvSpPr>
          <p:spPr>
            <a:xfrm rot="0">
              <a:off x="0" y="19050"/>
              <a:ext cx="7118480" cy="494092"/>
            </a:xfrm>
            <a:prstGeom prst="rect">
              <a:avLst/>
            </a:prstGeom>
          </p:spPr>
          <p:txBody>
            <a:bodyPr anchor="t" rtlCol="false" tIns="0" lIns="0" bIns="0" rIns="0">
              <a:spAutoFit/>
            </a:bodyPr>
            <a:lstStyle/>
            <a:p>
              <a:pPr algn="ctr">
                <a:lnSpc>
                  <a:spcPts val="2899"/>
                </a:lnSpc>
                <a:spcBef>
                  <a:spcPct val="0"/>
                </a:spcBef>
              </a:pPr>
              <a:r>
                <a:rPr lang="en-US" sz="2635">
                  <a:solidFill>
                    <a:srgbClr val="000000"/>
                  </a:solidFill>
                  <a:latin typeface="Public Sans"/>
                  <a:ea typeface="Public Sans"/>
                  <a:cs typeface="Public Sans"/>
                  <a:sym typeface="Public Sans"/>
                </a:rPr>
                <a:t>Trai</a:t>
              </a:r>
              <a:r>
                <a:rPr lang="en-US" sz="2635">
                  <a:solidFill>
                    <a:srgbClr val="000000"/>
                  </a:solidFill>
                  <a:latin typeface="Public Sans"/>
                  <a:ea typeface="Public Sans"/>
                  <a:cs typeface="Public Sans"/>
                  <a:sym typeface="Public Sans"/>
                </a:rPr>
                <a:t>n/Test Split Evaluation</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aphicFrame>
        <p:nvGraphicFramePr>
          <p:cNvPr name="Object 4" id="4"/>
          <p:cNvGraphicFramePr/>
          <p:nvPr/>
        </p:nvGraphicFramePr>
        <p:xfrm>
          <a:off x="1028700" y="2548701"/>
          <a:ext cx="7644642" cy="2574255"/>
        </p:xfrm>
        <a:graphic>
          <a:graphicData uri="http://schemas.openxmlformats.org/presentationml/2006/ole">
            <p:oleObj imgW="9169400" imgH="41021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5" id="5"/>
          <p:cNvGraphicFramePr/>
          <p:nvPr/>
        </p:nvGraphicFramePr>
        <p:xfrm>
          <a:off x="1028700" y="6533246"/>
          <a:ext cx="16230600" cy="3969436"/>
        </p:xfrm>
        <a:graphic>
          <a:graphicData uri="http://schemas.openxmlformats.org/presentationml/2006/ole">
            <p:oleObj imgW="19469100" imgH="72136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914400"/>
            <a:ext cx="978946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4. Experience and results </a:t>
            </a:r>
          </a:p>
        </p:txBody>
      </p:sp>
      <p:sp>
        <p:nvSpPr>
          <p:cNvPr name="TextBox 7" id="7"/>
          <p:cNvSpPr txBox="true"/>
          <p:nvPr/>
        </p:nvSpPr>
        <p:spPr>
          <a:xfrm rot="0">
            <a:off x="1028700" y="1752385"/>
            <a:ext cx="4738823" cy="737183"/>
          </a:xfrm>
          <a:prstGeom prst="rect">
            <a:avLst/>
          </a:prstGeom>
        </p:spPr>
        <p:txBody>
          <a:bodyPr anchor="t" rtlCol="false" tIns="0" lIns="0" bIns="0" rIns="0">
            <a:spAutoFit/>
          </a:bodyPr>
          <a:lstStyle/>
          <a:p>
            <a:pPr algn="ctr">
              <a:lnSpc>
                <a:spcPts val="5759"/>
              </a:lnSpc>
              <a:spcBef>
                <a:spcPct val="0"/>
              </a:spcBef>
            </a:pPr>
            <a:r>
              <a:rPr lang="en-US" b="true" sz="3199">
                <a:solidFill>
                  <a:srgbClr val="000000"/>
                </a:solidFill>
                <a:latin typeface="Calibri (MS) Bold"/>
                <a:ea typeface="Calibri (MS) Bold"/>
                <a:cs typeface="Calibri (MS) Bold"/>
                <a:sym typeface="Calibri (MS) Bold"/>
              </a:rPr>
              <a:t>Kết quả của cross-validation</a:t>
            </a:r>
          </a:p>
        </p:txBody>
      </p:sp>
      <p:sp>
        <p:nvSpPr>
          <p:cNvPr name="TextBox 8" id="8"/>
          <p:cNvSpPr txBox="true"/>
          <p:nvPr/>
        </p:nvSpPr>
        <p:spPr>
          <a:xfrm rot="0">
            <a:off x="1028700" y="5796064"/>
            <a:ext cx="4490550" cy="737183"/>
          </a:xfrm>
          <a:prstGeom prst="rect">
            <a:avLst/>
          </a:prstGeom>
        </p:spPr>
        <p:txBody>
          <a:bodyPr anchor="t" rtlCol="false" tIns="0" lIns="0" bIns="0" rIns="0">
            <a:spAutoFit/>
          </a:bodyPr>
          <a:lstStyle/>
          <a:p>
            <a:pPr algn="ctr">
              <a:lnSpc>
                <a:spcPts val="5759"/>
              </a:lnSpc>
              <a:spcBef>
                <a:spcPct val="0"/>
              </a:spcBef>
            </a:pPr>
            <a:r>
              <a:rPr lang="en-US" b="true" sz="3199">
                <a:solidFill>
                  <a:srgbClr val="000000"/>
                </a:solidFill>
                <a:latin typeface="Calibri (MS) Bold"/>
                <a:ea typeface="Calibri (MS) Bold"/>
                <a:cs typeface="Calibri (MS) Bold"/>
                <a:sym typeface="Calibri (MS) Bold"/>
              </a:rPr>
              <a:t>Kết quả của train-split-test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914400"/>
            <a:ext cx="978946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4. Experience and results </a:t>
            </a:r>
          </a:p>
        </p:txBody>
      </p:sp>
      <p:sp>
        <p:nvSpPr>
          <p:cNvPr name="TextBox 5" id="5"/>
          <p:cNvSpPr txBox="true"/>
          <p:nvPr/>
        </p:nvSpPr>
        <p:spPr>
          <a:xfrm rot="0">
            <a:off x="1631775" y="1838435"/>
            <a:ext cx="4560364" cy="758246"/>
          </a:xfrm>
          <a:prstGeom prst="rect">
            <a:avLst/>
          </a:prstGeom>
        </p:spPr>
        <p:txBody>
          <a:bodyPr anchor="t" rtlCol="false" tIns="0" lIns="0" bIns="0" rIns="0">
            <a:spAutoFit/>
          </a:bodyPr>
          <a:lstStyle/>
          <a:p>
            <a:pPr algn="ctr">
              <a:lnSpc>
                <a:spcPts val="5939"/>
              </a:lnSpc>
              <a:spcBef>
                <a:spcPct val="0"/>
              </a:spcBef>
            </a:pPr>
            <a:r>
              <a:rPr lang="en-US" b="true" sz="3299">
                <a:solidFill>
                  <a:srgbClr val="000000"/>
                </a:solidFill>
                <a:latin typeface="Calibri (MS) Bold"/>
                <a:ea typeface="Calibri (MS) Bold"/>
                <a:cs typeface="Calibri (MS) Bold"/>
                <a:sym typeface="Calibri (MS) Bold"/>
              </a:rPr>
              <a:t>Logistic Regression setup: </a:t>
            </a:r>
          </a:p>
        </p:txBody>
      </p:sp>
      <p:sp>
        <p:nvSpPr>
          <p:cNvPr name="TextBox 6" id="6"/>
          <p:cNvSpPr txBox="true"/>
          <p:nvPr/>
        </p:nvSpPr>
        <p:spPr>
          <a:xfrm rot="0">
            <a:off x="1631775" y="2797725"/>
            <a:ext cx="5395883" cy="1514313"/>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R</a:t>
            </a:r>
            <a:r>
              <a:rPr lang="en-US" sz="3200">
                <a:solidFill>
                  <a:srgbClr val="000000"/>
                </a:solidFill>
                <a:latin typeface="Calibri (MS)"/>
                <a:ea typeface="Calibri (MS)"/>
                <a:cs typeface="Calibri (MS)"/>
                <a:sym typeface="Calibri (MS)"/>
              </a:rPr>
              <a:t>egu</a:t>
            </a:r>
            <a:r>
              <a:rPr lang="en-US" sz="3200">
                <a:solidFill>
                  <a:srgbClr val="000000"/>
                </a:solidFill>
                <a:latin typeface="Calibri (MS)"/>
                <a:ea typeface="Calibri (MS)"/>
                <a:cs typeface="Calibri (MS)"/>
                <a:sym typeface="Calibri (MS)"/>
              </a:rPr>
              <a:t>l</a:t>
            </a:r>
            <a:r>
              <a:rPr lang="en-US" sz="3200">
                <a:solidFill>
                  <a:srgbClr val="000000"/>
                </a:solidFill>
                <a:latin typeface="Calibri (MS)"/>
                <a:ea typeface="Calibri (MS)"/>
                <a:cs typeface="Calibri (MS)"/>
                <a:sym typeface="Calibri (MS)"/>
              </a:rPr>
              <a:t>a</a:t>
            </a:r>
            <a:r>
              <a:rPr lang="en-US" sz="3200">
                <a:solidFill>
                  <a:srgbClr val="000000"/>
                </a:solidFill>
                <a:latin typeface="Calibri (MS)"/>
                <a:ea typeface="Calibri (MS)"/>
                <a:cs typeface="Calibri (MS)"/>
                <a:sym typeface="Calibri (MS)"/>
              </a:rPr>
              <a:t>r</a:t>
            </a:r>
            <a:r>
              <a:rPr lang="en-US" sz="3200">
                <a:solidFill>
                  <a:srgbClr val="000000"/>
                </a:solidFill>
                <a:latin typeface="Calibri (MS)"/>
                <a:ea typeface="Calibri (MS)"/>
                <a:cs typeface="Calibri (MS)"/>
                <a:sym typeface="Calibri (MS)"/>
              </a:rPr>
              <a:t>i</a:t>
            </a:r>
            <a:r>
              <a:rPr lang="en-US" sz="3200">
                <a:solidFill>
                  <a:srgbClr val="000000"/>
                </a:solidFill>
                <a:latin typeface="Calibri (MS)"/>
                <a:ea typeface="Calibri (MS)"/>
                <a:cs typeface="Calibri (MS)"/>
                <a:sym typeface="Calibri (MS)"/>
              </a:rPr>
              <a:t>z</a:t>
            </a:r>
            <a:r>
              <a:rPr lang="en-US" sz="3200">
                <a:solidFill>
                  <a:srgbClr val="000000"/>
                </a:solidFill>
                <a:latin typeface="Calibri (MS)"/>
                <a:ea typeface="Calibri (MS)"/>
                <a:cs typeface="Calibri (MS)"/>
                <a:sym typeface="Calibri (MS)"/>
              </a:rPr>
              <a:t>ation stren</a:t>
            </a:r>
            <a:r>
              <a:rPr lang="en-US" sz="3200">
                <a:solidFill>
                  <a:srgbClr val="000000"/>
                </a:solidFill>
                <a:latin typeface="Calibri (MS)"/>
                <a:ea typeface="Calibri (MS)"/>
                <a:cs typeface="Calibri (MS)"/>
                <a:sym typeface="Calibri (MS)"/>
              </a:rPr>
              <a:t>g</a:t>
            </a:r>
            <a:r>
              <a:rPr lang="en-US" sz="3200">
                <a:solidFill>
                  <a:srgbClr val="000000"/>
                </a:solidFill>
                <a:latin typeface="Calibri (MS)"/>
                <a:ea typeface="Calibri (MS)"/>
                <a:cs typeface="Calibri (MS)"/>
                <a:sym typeface="Calibri (MS)"/>
              </a:rPr>
              <a:t>th: 1</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Max_iter: 1000</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Random state: 42</a:t>
            </a:r>
          </a:p>
        </p:txBody>
      </p:sp>
      <p:sp>
        <p:nvSpPr>
          <p:cNvPr name="TextBox 7" id="7"/>
          <p:cNvSpPr txBox="true"/>
          <p:nvPr/>
        </p:nvSpPr>
        <p:spPr>
          <a:xfrm rot="0">
            <a:off x="1631775" y="5671685"/>
            <a:ext cx="3921486" cy="758246"/>
          </a:xfrm>
          <a:prstGeom prst="rect">
            <a:avLst/>
          </a:prstGeom>
        </p:spPr>
        <p:txBody>
          <a:bodyPr anchor="t" rtlCol="false" tIns="0" lIns="0" bIns="0" rIns="0">
            <a:spAutoFit/>
          </a:bodyPr>
          <a:lstStyle/>
          <a:p>
            <a:pPr algn="ctr">
              <a:lnSpc>
                <a:spcPts val="5939"/>
              </a:lnSpc>
              <a:spcBef>
                <a:spcPct val="0"/>
              </a:spcBef>
            </a:pPr>
            <a:r>
              <a:rPr lang="en-US" b="true" sz="3299">
                <a:solidFill>
                  <a:srgbClr val="000000"/>
                </a:solidFill>
                <a:latin typeface="Calibri (MS) Bold"/>
                <a:ea typeface="Calibri (MS) Bold"/>
                <a:cs typeface="Calibri (MS) Bold"/>
                <a:sym typeface="Calibri (MS) Bold"/>
              </a:rPr>
              <a:t>Random Forest setup: </a:t>
            </a:r>
          </a:p>
        </p:txBody>
      </p:sp>
      <p:sp>
        <p:nvSpPr>
          <p:cNvPr name="TextBox 8" id="8"/>
          <p:cNvSpPr txBox="true"/>
          <p:nvPr/>
        </p:nvSpPr>
        <p:spPr>
          <a:xfrm rot="0">
            <a:off x="1631775" y="6620431"/>
            <a:ext cx="5395883" cy="2000033"/>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Min simple split: 3</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Min simple leaf: 1</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n_estimators: 600</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n_jobs: -1</a:t>
            </a:r>
          </a:p>
        </p:txBody>
      </p:sp>
      <p:grpSp>
        <p:nvGrpSpPr>
          <p:cNvPr name="Group 9" id="9"/>
          <p:cNvGrpSpPr/>
          <p:nvPr/>
        </p:nvGrpSpPr>
        <p:grpSpPr>
          <a:xfrm rot="0">
            <a:off x="9428931" y="1847796"/>
            <a:ext cx="4048905" cy="3471320"/>
            <a:chOff x="0" y="0"/>
            <a:chExt cx="2699323" cy="2314259"/>
          </a:xfrm>
        </p:grpSpPr>
        <p:sp>
          <p:nvSpPr>
            <p:cNvPr name="Freeform 10" id="10"/>
            <p:cNvSpPr/>
            <p:nvPr/>
          </p:nvSpPr>
          <p:spPr>
            <a:xfrm flipH="false" flipV="false" rot="0">
              <a:off x="0" y="0"/>
              <a:ext cx="2699323" cy="2314259"/>
            </a:xfrm>
            <a:custGeom>
              <a:avLst/>
              <a:gdLst/>
              <a:ahLst/>
              <a:cxnLst/>
              <a:rect r="r" b="b" t="t" l="l"/>
              <a:pathLst>
                <a:path h="2314259" w="2699323">
                  <a:moveTo>
                    <a:pt x="0" y="0"/>
                  </a:moveTo>
                  <a:lnTo>
                    <a:pt x="2699323" y="0"/>
                  </a:lnTo>
                  <a:lnTo>
                    <a:pt x="2699323" y="2314259"/>
                  </a:lnTo>
                  <a:lnTo>
                    <a:pt x="0" y="2314259"/>
                  </a:lnTo>
                  <a:close/>
                </a:path>
              </a:pathLst>
            </a:custGeom>
            <a:blipFill>
              <a:blip r:embed="rId3"/>
              <a:stretch>
                <a:fillRect l="-3821" t="0" r="-3821" b="0"/>
              </a:stretch>
            </a:blipFill>
          </p:spPr>
        </p:sp>
      </p:grpSp>
      <p:grpSp>
        <p:nvGrpSpPr>
          <p:cNvPr name="Group 11" id="11"/>
          <p:cNvGrpSpPr/>
          <p:nvPr/>
        </p:nvGrpSpPr>
        <p:grpSpPr>
          <a:xfrm rot="0">
            <a:off x="9428931" y="6179396"/>
            <a:ext cx="4048905" cy="3568509"/>
            <a:chOff x="0" y="0"/>
            <a:chExt cx="2881419" cy="2539543"/>
          </a:xfrm>
        </p:grpSpPr>
        <p:sp>
          <p:nvSpPr>
            <p:cNvPr name="Freeform 12" id="12"/>
            <p:cNvSpPr/>
            <p:nvPr/>
          </p:nvSpPr>
          <p:spPr>
            <a:xfrm flipH="false" flipV="false" rot="0">
              <a:off x="0" y="0"/>
              <a:ext cx="2881419" cy="2539543"/>
            </a:xfrm>
            <a:custGeom>
              <a:avLst/>
              <a:gdLst/>
              <a:ahLst/>
              <a:cxnLst/>
              <a:rect r="r" b="b" t="t" l="l"/>
              <a:pathLst>
                <a:path h="2539543" w="2881419">
                  <a:moveTo>
                    <a:pt x="0" y="0"/>
                  </a:moveTo>
                  <a:lnTo>
                    <a:pt x="2881419" y="0"/>
                  </a:lnTo>
                  <a:lnTo>
                    <a:pt x="2881419" y="2539543"/>
                  </a:lnTo>
                  <a:lnTo>
                    <a:pt x="0" y="2539543"/>
                  </a:lnTo>
                  <a:close/>
                </a:path>
              </a:pathLst>
            </a:custGeom>
            <a:blipFill>
              <a:blip r:embed="rId4"/>
              <a:stretch>
                <a:fillRect l="0" t="-439" r="0" b="-439"/>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914400"/>
            <a:ext cx="978946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4. Experience and results </a:t>
            </a:r>
          </a:p>
        </p:txBody>
      </p:sp>
      <p:sp>
        <p:nvSpPr>
          <p:cNvPr name="TextBox 5" id="5"/>
          <p:cNvSpPr txBox="true"/>
          <p:nvPr/>
        </p:nvSpPr>
        <p:spPr>
          <a:xfrm rot="0">
            <a:off x="1769232" y="1843625"/>
            <a:ext cx="2773886" cy="758246"/>
          </a:xfrm>
          <a:prstGeom prst="rect">
            <a:avLst/>
          </a:prstGeom>
        </p:spPr>
        <p:txBody>
          <a:bodyPr anchor="t" rtlCol="false" tIns="0" lIns="0" bIns="0" rIns="0">
            <a:spAutoFit/>
          </a:bodyPr>
          <a:lstStyle/>
          <a:p>
            <a:pPr algn="ctr">
              <a:lnSpc>
                <a:spcPts val="5939"/>
              </a:lnSpc>
              <a:spcBef>
                <a:spcPct val="0"/>
              </a:spcBef>
            </a:pPr>
            <a:r>
              <a:rPr lang="en-US" b="true" sz="3299">
                <a:solidFill>
                  <a:srgbClr val="000000"/>
                </a:solidFill>
                <a:latin typeface="Calibri (MS) Bold"/>
                <a:ea typeface="Calibri (MS) Bold"/>
                <a:cs typeface="Calibri (MS) Bold"/>
                <a:sym typeface="Calibri (MS) Bold"/>
              </a:rPr>
              <a:t>XGBoost setup: </a:t>
            </a:r>
          </a:p>
        </p:txBody>
      </p:sp>
      <p:sp>
        <p:nvSpPr>
          <p:cNvPr name="TextBox 6" id="6"/>
          <p:cNvSpPr txBox="true"/>
          <p:nvPr/>
        </p:nvSpPr>
        <p:spPr>
          <a:xfrm rot="0">
            <a:off x="1631775" y="2797725"/>
            <a:ext cx="5395883" cy="2000033"/>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n_</a:t>
            </a:r>
            <a:r>
              <a:rPr lang="en-US" sz="3200">
                <a:solidFill>
                  <a:srgbClr val="000000"/>
                </a:solidFill>
                <a:latin typeface="Calibri (MS)"/>
                <a:ea typeface="Calibri (MS)"/>
                <a:cs typeface="Calibri (MS)"/>
                <a:sym typeface="Calibri (MS)"/>
              </a:rPr>
              <a:t>estimators </a:t>
            </a:r>
            <a:r>
              <a:rPr lang="en-US" sz="3200">
                <a:solidFill>
                  <a:srgbClr val="000000"/>
                </a:solidFill>
                <a:latin typeface="Calibri (MS)"/>
                <a:ea typeface="Calibri (MS)"/>
                <a:cs typeface="Calibri (MS)"/>
                <a:sym typeface="Calibri (MS)"/>
              </a:rPr>
              <a:t>: 500</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learning rate: 0.03</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colsample_bytree : 0.8</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eval_metric: 'logloss'</a:t>
            </a:r>
          </a:p>
        </p:txBody>
      </p:sp>
      <p:sp>
        <p:nvSpPr>
          <p:cNvPr name="TextBox 7" id="7"/>
          <p:cNvSpPr txBox="true"/>
          <p:nvPr/>
        </p:nvSpPr>
        <p:spPr>
          <a:xfrm rot="0">
            <a:off x="1938514" y="5671685"/>
            <a:ext cx="2090359" cy="758246"/>
          </a:xfrm>
          <a:prstGeom prst="rect">
            <a:avLst/>
          </a:prstGeom>
        </p:spPr>
        <p:txBody>
          <a:bodyPr anchor="t" rtlCol="false" tIns="0" lIns="0" bIns="0" rIns="0">
            <a:spAutoFit/>
          </a:bodyPr>
          <a:lstStyle/>
          <a:p>
            <a:pPr algn="ctr">
              <a:lnSpc>
                <a:spcPts val="5939"/>
              </a:lnSpc>
              <a:spcBef>
                <a:spcPct val="0"/>
              </a:spcBef>
            </a:pPr>
            <a:r>
              <a:rPr lang="en-US" b="true" sz="3299">
                <a:solidFill>
                  <a:srgbClr val="000000"/>
                </a:solidFill>
                <a:latin typeface="Calibri (MS) Bold"/>
                <a:ea typeface="Calibri (MS) Bold"/>
                <a:cs typeface="Calibri (MS) Bold"/>
                <a:sym typeface="Calibri (MS) Bold"/>
              </a:rPr>
              <a:t>SVM setup: </a:t>
            </a:r>
          </a:p>
        </p:txBody>
      </p:sp>
      <p:sp>
        <p:nvSpPr>
          <p:cNvPr name="TextBox 8" id="8"/>
          <p:cNvSpPr txBox="true"/>
          <p:nvPr/>
        </p:nvSpPr>
        <p:spPr>
          <a:xfrm rot="0">
            <a:off x="1631775" y="6620431"/>
            <a:ext cx="5395883" cy="1514313"/>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R</a:t>
            </a:r>
            <a:r>
              <a:rPr lang="en-US" sz="3200">
                <a:solidFill>
                  <a:srgbClr val="000000"/>
                </a:solidFill>
                <a:latin typeface="Calibri (MS)"/>
                <a:ea typeface="Calibri (MS)"/>
                <a:cs typeface="Calibri (MS)"/>
                <a:sym typeface="Calibri (MS)"/>
              </a:rPr>
              <a:t>egu</a:t>
            </a:r>
            <a:r>
              <a:rPr lang="en-US" sz="3200">
                <a:solidFill>
                  <a:srgbClr val="000000"/>
                </a:solidFill>
                <a:latin typeface="Calibri (MS)"/>
                <a:ea typeface="Calibri (MS)"/>
                <a:cs typeface="Calibri (MS)"/>
                <a:sym typeface="Calibri (MS)"/>
              </a:rPr>
              <a:t>l</a:t>
            </a:r>
            <a:r>
              <a:rPr lang="en-US" sz="3200">
                <a:solidFill>
                  <a:srgbClr val="000000"/>
                </a:solidFill>
                <a:latin typeface="Calibri (MS)"/>
                <a:ea typeface="Calibri (MS)"/>
                <a:cs typeface="Calibri (MS)"/>
                <a:sym typeface="Calibri (MS)"/>
              </a:rPr>
              <a:t>a</a:t>
            </a:r>
            <a:r>
              <a:rPr lang="en-US" sz="3200">
                <a:solidFill>
                  <a:srgbClr val="000000"/>
                </a:solidFill>
                <a:latin typeface="Calibri (MS)"/>
                <a:ea typeface="Calibri (MS)"/>
                <a:cs typeface="Calibri (MS)"/>
                <a:sym typeface="Calibri (MS)"/>
              </a:rPr>
              <a:t>r</a:t>
            </a:r>
            <a:r>
              <a:rPr lang="en-US" sz="3200">
                <a:solidFill>
                  <a:srgbClr val="000000"/>
                </a:solidFill>
                <a:latin typeface="Calibri (MS)"/>
                <a:ea typeface="Calibri (MS)"/>
                <a:cs typeface="Calibri (MS)"/>
                <a:sym typeface="Calibri (MS)"/>
              </a:rPr>
              <a:t>i</a:t>
            </a:r>
            <a:r>
              <a:rPr lang="en-US" sz="3200">
                <a:solidFill>
                  <a:srgbClr val="000000"/>
                </a:solidFill>
                <a:latin typeface="Calibri (MS)"/>
                <a:ea typeface="Calibri (MS)"/>
                <a:cs typeface="Calibri (MS)"/>
                <a:sym typeface="Calibri (MS)"/>
              </a:rPr>
              <a:t>z</a:t>
            </a:r>
            <a:r>
              <a:rPr lang="en-US" sz="3200">
                <a:solidFill>
                  <a:srgbClr val="000000"/>
                </a:solidFill>
                <a:latin typeface="Calibri (MS)"/>
                <a:ea typeface="Calibri (MS)"/>
                <a:cs typeface="Calibri (MS)"/>
                <a:sym typeface="Calibri (MS)"/>
              </a:rPr>
              <a:t>ation stren</a:t>
            </a:r>
            <a:r>
              <a:rPr lang="en-US" sz="3200">
                <a:solidFill>
                  <a:srgbClr val="000000"/>
                </a:solidFill>
                <a:latin typeface="Calibri (MS)"/>
                <a:ea typeface="Calibri (MS)"/>
                <a:cs typeface="Calibri (MS)"/>
                <a:sym typeface="Calibri (MS)"/>
              </a:rPr>
              <a:t>g</a:t>
            </a:r>
            <a:r>
              <a:rPr lang="en-US" sz="3200">
                <a:solidFill>
                  <a:srgbClr val="000000"/>
                </a:solidFill>
                <a:latin typeface="Calibri (MS)"/>
                <a:ea typeface="Calibri (MS)"/>
                <a:cs typeface="Calibri (MS)"/>
                <a:sym typeface="Calibri (MS)"/>
              </a:rPr>
              <a:t>th: 1</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gamma: 'scale'</a:t>
            </a:r>
          </a:p>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probability: True</a:t>
            </a:r>
          </a:p>
        </p:txBody>
      </p:sp>
      <p:grpSp>
        <p:nvGrpSpPr>
          <p:cNvPr name="Group 9" id="9"/>
          <p:cNvGrpSpPr/>
          <p:nvPr/>
        </p:nvGrpSpPr>
        <p:grpSpPr>
          <a:xfrm rot="0">
            <a:off x="9428931" y="5928860"/>
            <a:ext cx="3744091" cy="3802821"/>
            <a:chOff x="0" y="0"/>
            <a:chExt cx="2699323" cy="2741665"/>
          </a:xfrm>
        </p:grpSpPr>
        <p:sp>
          <p:nvSpPr>
            <p:cNvPr name="Freeform 10" id="10"/>
            <p:cNvSpPr/>
            <p:nvPr/>
          </p:nvSpPr>
          <p:spPr>
            <a:xfrm flipH="false" flipV="false" rot="0">
              <a:off x="0" y="0"/>
              <a:ext cx="2699323" cy="2741665"/>
            </a:xfrm>
            <a:custGeom>
              <a:avLst/>
              <a:gdLst/>
              <a:ahLst/>
              <a:cxnLst/>
              <a:rect r="r" b="b" t="t" l="l"/>
              <a:pathLst>
                <a:path h="2741665" w="2699323">
                  <a:moveTo>
                    <a:pt x="0" y="0"/>
                  </a:moveTo>
                  <a:lnTo>
                    <a:pt x="2699323" y="0"/>
                  </a:lnTo>
                  <a:lnTo>
                    <a:pt x="2699323" y="2741665"/>
                  </a:lnTo>
                  <a:lnTo>
                    <a:pt x="0" y="2741665"/>
                  </a:lnTo>
                  <a:close/>
                </a:path>
              </a:pathLst>
            </a:custGeom>
            <a:blipFill>
              <a:blip r:embed="rId3"/>
              <a:stretch>
                <a:fillRect l="-784" t="0" r="-784" b="0"/>
              </a:stretch>
            </a:blipFill>
          </p:spPr>
        </p:sp>
      </p:grpSp>
      <p:grpSp>
        <p:nvGrpSpPr>
          <p:cNvPr name="Group 11" id="11"/>
          <p:cNvGrpSpPr/>
          <p:nvPr/>
        </p:nvGrpSpPr>
        <p:grpSpPr>
          <a:xfrm rot="0">
            <a:off x="9566085" y="2100800"/>
            <a:ext cx="4154997" cy="3321250"/>
            <a:chOff x="0" y="0"/>
            <a:chExt cx="2895217" cy="2314259"/>
          </a:xfrm>
        </p:grpSpPr>
        <p:sp>
          <p:nvSpPr>
            <p:cNvPr name="Freeform 12" id="12"/>
            <p:cNvSpPr/>
            <p:nvPr/>
          </p:nvSpPr>
          <p:spPr>
            <a:xfrm flipH="false" flipV="false" rot="0">
              <a:off x="0" y="0"/>
              <a:ext cx="2895217" cy="2314259"/>
            </a:xfrm>
            <a:custGeom>
              <a:avLst/>
              <a:gdLst/>
              <a:ahLst/>
              <a:cxnLst/>
              <a:rect r="r" b="b" t="t" l="l"/>
              <a:pathLst>
                <a:path h="2314259" w="2895217">
                  <a:moveTo>
                    <a:pt x="0" y="0"/>
                  </a:moveTo>
                  <a:lnTo>
                    <a:pt x="2895217" y="0"/>
                  </a:lnTo>
                  <a:lnTo>
                    <a:pt x="2895217" y="2314259"/>
                  </a:lnTo>
                  <a:lnTo>
                    <a:pt x="0" y="2314259"/>
                  </a:lnTo>
                  <a:close/>
                </a:path>
              </a:pathLst>
            </a:custGeom>
            <a:blipFill>
              <a:blip r:embed="rId4"/>
              <a:stretch>
                <a:fillRect l="-3112" t="0" r="-3112"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914400"/>
            <a:ext cx="9789463" cy="933396"/>
          </a:xfrm>
          <a:prstGeom prst="rect">
            <a:avLst/>
          </a:prstGeom>
        </p:spPr>
        <p:txBody>
          <a:bodyPr anchor="t" rtlCol="false" tIns="0" lIns="0" bIns="0" rIns="0">
            <a:spAutoFit/>
          </a:bodyPr>
          <a:lstStyle/>
          <a:p>
            <a:pPr algn="l">
              <a:lnSpc>
                <a:spcPts val="6479"/>
              </a:lnSpc>
            </a:pPr>
            <a:r>
              <a:rPr lang="en-US" sz="5399" b="true">
                <a:solidFill>
                  <a:srgbClr val="000000"/>
                </a:solidFill>
                <a:latin typeface="Calibri (MS) Bold"/>
                <a:ea typeface="Calibri (MS) Bold"/>
                <a:cs typeface="Calibri (MS) Bold"/>
                <a:sym typeface="Calibri (MS) Bold"/>
              </a:rPr>
              <a:t>5. Conclusion</a:t>
            </a:r>
          </a:p>
        </p:txBody>
      </p:sp>
      <p:grpSp>
        <p:nvGrpSpPr>
          <p:cNvPr name="Group 5" id="5"/>
          <p:cNvGrpSpPr/>
          <p:nvPr/>
        </p:nvGrpSpPr>
        <p:grpSpPr>
          <a:xfrm rot="0">
            <a:off x="978945" y="5143500"/>
            <a:ext cx="15486392" cy="1699624"/>
            <a:chOff x="0" y="0"/>
            <a:chExt cx="24981109" cy="2741665"/>
          </a:xfrm>
        </p:grpSpPr>
        <p:sp>
          <p:nvSpPr>
            <p:cNvPr name="Freeform 6" id="6"/>
            <p:cNvSpPr/>
            <p:nvPr/>
          </p:nvSpPr>
          <p:spPr>
            <a:xfrm flipH="false" flipV="false" rot="0">
              <a:off x="0" y="0"/>
              <a:ext cx="24981109" cy="2741665"/>
            </a:xfrm>
            <a:custGeom>
              <a:avLst/>
              <a:gdLst/>
              <a:ahLst/>
              <a:cxnLst/>
              <a:rect r="r" b="b" t="t" l="l"/>
              <a:pathLst>
                <a:path h="2741665" w="24981109">
                  <a:moveTo>
                    <a:pt x="0" y="0"/>
                  </a:moveTo>
                  <a:lnTo>
                    <a:pt x="24981109" y="0"/>
                  </a:lnTo>
                  <a:lnTo>
                    <a:pt x="24981109" y="2741665"/>
                  </a:lnTo>
                  <a:lnTo>
                    <a:pt x="0" y="2741665"/>
                  </a:lnTo>
                  <a:close/>
                </a:path>
              </a:pathLst>
            </a:custGeom>
            <a:blipFill>
              <a:blip r:embed="rId3"/>
              <a:stretch>
                <a:fillRect l="0" t="-2961" r="0" b="-2961"/>
              </a:stretch>
            </a:blipFill>
          </p:spPr>
        </p:sp>
      </p:grpSp>
      <p:sp>
        <p:nvSpPr>
          <p:cNvPr name="TextBox 7" id="7"/>
          <p:cNvSpPr txBox="true"/>
          <p:nvPr/>
        </p:nvSpPr>
        <p:spPr>
          <a:xfrm rot="0">
            <a:off x="1028700" y="2185999"/>
            <a:ext cx="15331762" cy="1028592"/>
          </a:xfrm>
          <a:prstGeom prst="rect">
            <a:avLst/>
          </a:prstGeom>
        </p:spPr>
        <p:txBody>
          <a:bodyPr anchor="t" rtlCol="false" tIns="0" lIns="0" bIns="0" rIns="0">
            <a:spAutoFit/>
          </a:bodyPr>
          <a:lstStyle/>
          <a:p>
            <a:pPr algn="l">
              <a:lnSpc>
                <a:spcPts val="3840"/>
              </a:lnSpc>
              <a:spcBef>
                <a:spcPct val="0"/>
              </a:spcBef>
            </a:pPr>
            <a:r>
              <a:rPr lang="en-US" sz="3200">
                <a:solidFill>
                  <a:srgbClr val="000000"/>
                </a:solidFill>
                <a:latin typeface="Calibri (MS)"/>
                <a:ea typeface="Calibri (MS)"/>
                <a:cs typeface="Calibri (MS)"/>
                <a:sym typeface="Calibri (MS)"/>
              </a:rPr>
              <a:t>Mô hình SVM cho thấy hiệu suất mạnh mẽ và ổn định nhất, đạt điểm ROC AUC và F1 Score cao nhất trên tập Validation, xác nhận là lựa chọn tối ưu cho việc dự đoán.</a:t>
            </a:r>
          </a:p>
        </p:txBody>
      </p:sp>
      <p:sp>
        <p:nvSpPr>
          <p:cNvPr name="TextBox 8" id="8"/>
          <p:cNvSpPr txBox="true"/>
          <p:nvPr/>
        </p:nvSpPr>
        <p:spPr>
          <a:xfrm rot="0">
            <a:off x="1028700" y="3203654"/>
            <a:ext cx="15436637" cy="1441977"/>
          </a:xfrm>
          <a:prstGeom prst="rect">
            <a:avLst/>
          </a:prstGeom>
        </p:spPr>
        <p:txBody>
          <a:bodyPr anchor="t" rtlCol="false" tIns="0" lIns="0" bIns="0" rIns="0">
            <a:spAutoFit/>
          </a:bodyPr>
          <a:lstStyle/>
          <a:p>
            <a:pPr algn="l">
              <a:lnSpc>
                <a:spcPts val="5760"/>
              </a:lnSpc>
              <a:spcBef>
                <a:spcPct val="0"/>
              </a:spcBef>
            </a:pPr>
            <a:r>
              <a:rPr lang="en-US" sz="3200">
                <a:solidFill>
                  <a:srgbClr val="000000"/>
                </a:solidFill>
                <a:latin typeface="Calibri (MS)"/>
                <a:ea typeface="Calibri (MS)"/>
                <a:cs typeface="Calibri (MS)"/>
                <a:sym typeface="Calibri (MS)"/>
              </a:rPr>
              <a:t>Quá trình của xử lý và tạo các đặc trưng đóng vai trò quan trọng, giúp</a:t>
            </a:r>
            <a:r>
              <a:rPr lang="en-US" sz="3200">
                <a:solidFill>
                  <a:srgbClr val="000000"/>
                </a:solidFill>
                <a:latin typeface="Calibri (MS)"/>
                <a:ea typeface="Calibri (MS)"/>
                <a:cs typeface="Calibri (MS)"/>
                <a:sym typeface="Calibri (MS)"/>
              </a:rPr>
              <a:t> mã hóa các quy tắc sống còn của thảm họa thành các yếu tố dự đoán rõ ràng.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a:grpSpLocks noChangeAspect="true"/>
          </p:cNvGrpSpPr>
          <p:nvPr/>
        </p:nvGrpSpPr>
        <p:grpSpPr>
          <a:xfrm rot="0">
            <a:off x="5254372" y="0"/>
            <a:ext cx="13033626" cy="9198592"/>
            <a:chOff x="0" y="0"/>
            <a:chExt cx="17378168" cy="12264789"/>
          </a:xfrm>
        </p:grpSpPr>
        <p:sp>
          <p:nvSpPr>
            <p:cNvPr name="Freeform 5" id="5"/>
            <p:cNvSpPr/>
            <p:nvPr/>
          </p:nvSpPr>
          <p:spPr>
            <a:xfrm flipH="false" flipV="false" rot="0">
              <a:off x="0" y="0"/>
              <a:ext cx="17378172" cy="12264771"/>
            </a:xfrm>
            <a:custGeom>
              <a:avLst/>
              <a:gdLst/>
              <a:ahLst/>
              <a:cxnLst/>
              <a:rect r="r" b="b" t="t" l="l"/>
              <a:pathLst>
                <a:path h="12264771" w="17378172">
                  <a:moveTo>
                    <a:pt x="0" y="0"/>
                  </a:moveTo>
                  <a:lnTo>
                    <a:pt x="17378172" y="0"/>
                  </a:lnTo>
                  <a:lnTo>
                    <a:pt x="17378172" y="12264771"/>
                  </a:lnTo>
                  <a:lnTo>
                    <a:pt x="0" y="12264771"/>
                  </a:lnTo>
                  <a:lnTo>
                    <a:pt x="0" y="0"/>
                  </a:lnTo>
                  <a:close/>
                </a:path>
              </a:pathLst>
            </a:custGeom>
            <a:blipFill>
              <a:blip r:embed="rId3"/>
              <a:stretch>
                <a:fillRect l="-25467" t="0" r="0" b="0"/>
              </a:stretch>
            </a:blipFill>
          </p:spPr>
        </p:sp>
      </p:grpSp>
      <p:sp>
        <p:nvSpPr>
          <p:cNvPr name="TextBox 6" id="6"/>
          <p:cNvSpPr txBox="true"/>
          <p:nvPr/>
        </p:nvSpPr>
        <p:spPr>
          <a:xfrm rot="0">
            <a:off x="1271568" y="4071620"/>
            <a:ext cx="6986360" cy="1754516"/>
          </a:xfrm>
          <a:prstGeom prst="rect">
            <a:avLst/>
          </a:prstGeom>
        </p:spPr>
        <p:txBody>
          <a:bodyPr anchor="t" rtlCol="false" tIns="0" lIns="0" bIns="0" rIns="0">
            <a:spAutoFit/>
          </a:bodyPr>
          <a:lstStyle/>
          <a:p>
            <a:pPr algn="l">
              <a:lnSpc>
                <a:spcPts val="13259"/>
              </a:lnSpc>
            </a:pPr>
            <a:r>
              <a:rPr lang="en-US" sz="8499" b="true">
                <a:solidFill>
                  <a:srgbClr val="000000"/>
                </a:solidFill>
                <a:latin typeface="Calibri (MS) Bold"/>
                <a:ea typeface="Calibri (MS) Bold"/>
                <a:cs typeface="Calibri (MS) Bold"/>
                <a:sym typeface="Calibri (MS) Bold"/>
              </a:rPr>
              <a:t>THANK YOU</a:t>
            </a:r>
          </a:p>
        </p:txBody>
      </p:sp>
      <p:grpSp>
        <p:nvGrpSpPr>
          <p:cNvPr name="Group 7" id="7"/>
          <p:cNvGrpSpPr/>
          <p:nvPr/>
        </p:nvGrpSpPr>
        <p:grpSpPr>
          <a:xfrm rot="0">
            <a:off x="1398926" y="5926854"/>
            <a:ext cx="795726" cy="25400"/>
            <a:chOff x="0" y="0"/>
            <a:chExt cx="1060968" cy="33867"/>
          </a:xfrm>
        </p:grpSpPr>
        <p:sp>
          <p:nvSpPr>
            <p:cNvPr name="Freeform 8" id="8"/>
            <p:cNvSpPr/>
            <p:nvPr/>
          </p:nvSpPr>
          <p:spPr>
            <a:xfrm flipH="false" flipV="false" rot="0">
              <a:off x="16891" y="0"/>
              <a:ext cx="1027176" cy="33909"/>
            </a:xfrm>
            <a:custGeom>
              <a:avLst/>
              <a:gdLst/>
              <a:ahLst/>
              <a:cxnLst/>
              <a:rect r="r" b="b" t="t" l="l"/>
              <a:pathLst>
                <a:path h="33909" w="1027176">
                  <a:moveTo>
                    <a:pt x="0" y="0"/>
                  </a:moveTo>
                  <a:lnTo>
                    <a:pt x="1027176" y="0"/>
                  </a:lnTo>
                  <a:lnTo>
                    <a:pt x="1027176" y="33909"/>
                  </a:lnTo>
                  <a:lnTo>
                    <a:pt x="0" y="33909"/>
                  </a:lnTo>
                  <a:close/>
                </a:path>
              </a:pathLst>
            </a:custGeom>
            <a:solidFill>
              <a:srgbClr val="000000"/>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DAG1Tc45EU0</dc:identifier>
  <dcterms:modified xsi:type="dcterms:W3CDTF">2011-08-01T06:04:30Z</dcterms:modified>
  <cp:revision>1</cp:revision>
  <dc:title>titanic - slide</dc:title>
</cp:coreProperties>
</file>